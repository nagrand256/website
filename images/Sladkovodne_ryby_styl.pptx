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autoCompressPictures="0">
  <p:sldMasterIdLst>
    <p:sldMasterId id="2147483648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</p:sldIdLst>
  <p:sldSz cy="5143500" cx="9144000"/>
  <p:notesSz cx="5143500" cy="9144000"/>
  <p:defaultTextStyle>
    <a:lvl1pPr algn="l" defTabSz="914400" eaLnBrk="1" hangingPunct="1" latinLnBrk="0" marL="0" rtl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r="http://schemas.openxmlformats.org/officeDocument/2006/relationships" xmlns:a="http://schemas.openxmlformats.org/drawing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r="http://schemas.openxmlformats.org/officeDocument/2006/relationships" xmlns:a="http://schemas.openxmlformats.org/drawing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tableStyles" Target="tableStyle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/>
        </p:spPr>
        <p:txBody>
          <a:bodyPr bIns="45720" lIns="91440" rIns="91440" rtlCol="0" tIns="45720" vert="horz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048707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/>
        </p:spPr>
        <p:txBody>
          <a:bodyPr bIns="45720" lIns="91440" rIns="91440" rtlCol="0" tIns="45720" vert="horz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1048708" name="Slide Image Placeholder 3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/>
          <a:noFill/>
          <a:ln w="12700">
            <a:solidFill>
              <a:prstClr val="black"/>
            </a:solidFill>
          </a:ln>
        </p:spPr>
        <p:txBody>
          <a:bodyPr anchor="ctr" bIns="45720" lIns="91440" rIns="91440" rtlCol="0" tIns="45720" vert="horz"/>
          <a:p>
            <a:endParaRPr lang="en-US"/>
          </a:p>
        </p:txBody>
      </p:sp>
      <p:sp>
        <p:nvSpPr>
          <p:cNvPr id="104870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bIns="45720" lIns="91440" rIns="91440" rtlCol="0" tIns="45720" vert="horz"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104871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/>
        </p:spPr>
        <p:txBody>
          <a:bodyPr anchor="b" bIns="45720" lIns="91440" rIns="91440" rtlCol="0" tIns="45720" vert="horz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04871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/>
        </p:spPr>
        <p:txBody>
          <a:bodyPr anchor="b" bIns="45720" lIns="91440" rIns="91440" rtlCol="0" tIns="45720" vert="horz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tx1="dk1" tx2="dk2" hlink="hlink" folHlink="folHlink"/>
  <p:notesStyle>
    <a:lvl1pPr algn="l" defTabSz="914400" eaLnBrk="1" hangingPunct="1" latinLnBrk="0" marL="0" rtl="0">
      <a:defRPr sz="1200" kern="12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sz="1200" kern="12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sz="1200" kern="12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sz="1200" kern="12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sz="1200" kern="12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8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6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1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72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67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8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7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68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4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8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68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9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50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651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3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1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61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02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60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580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581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586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587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7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08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609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9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30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631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0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9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69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6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9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69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3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70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US"/>
          </a:p>
        </p:txBody>
      </p:sp>
      <p:sp>
        <p:nvSpPr>
          <p:cNvPr id="104870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tx1="dk1" tx2="dk2" hlink="hlink" folHlink="folHlink"/>
  <p:sldLayoutIdLst>
    <p:sldLayoutId id="2147483649" r:id="rId1"/>
  </p:sldLayoutIdLst>
  <p:hf dt="0" ftr="0" hdr="0" sldNum="0"/>
  <p:txStyles>
    <p:titleStyle>
      <a:lvl1pPr algn="ctr" defTabSz="914400" eaLnBrk="1" hangingPunct="1" latinLnBrk="0" rtl="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9" name="Image 0" descr="https://upload.wikimedia.org/wikipedia/commons/thumb/e/e8/Esox_lucius_1.jpg/1280px-Esox_lucius_1.jpg"/>
          <p:cNvPicPr>
            <a:picLocks noChangeAspect="1"/>
          </p:cNvPicPr>
          <p:nvPr/>
        </p:nvPicPr>
        <p:blipFill>
          <a:blip xmlns:r="http://schemas.openxmlformats.org/officeDocument/2006/relationships" r:embed="rId1">
            <a:alphaModFix amt="45000"/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/>
        </p:spPr>
      </p:pic>
      <p:sp>
        <p:nvSpPr>
          <p:cNvPr id="1048652" name="Shape 0"/>
          <p:cNvSpPr/>
          <p:nvPr/>
        </p:nvSpPr>
        <p:spPr>
          <a:xfrm>
            <a:off x="0" y="0"/>
            <a:ext cx="5486400" cy="5143500"/>
          </a:xfrm>
          <a:prstGeom prst="rect"/>
          <a:solidFill>
            <a:srgbClr val="065A82">
              <a:alpha val="8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48653" name="Shape 1"/>
          <p:cNvSpPr/>
          <p:nvPr/>
        </p:nvSpPr>
        <p:spPr>
          <a:xfrm>
            <a:off x="548640" y="1371600"/>
            <a:ext cx="73152" cy="2286000"/>
          </a:xfrm>
          <a:prstGeom prst="rect"/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654" name="Text 2"/>
          <p:cNvSpPr/>
          <p:nvPr/>
        </p:nvSpPr>
        <p:spPr>
          <a:xfrm>
            <a:off x="777240" y="1280160"/>
            <a:ext cx="5029200" cy="64008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400" kern="0" lang="en-US" spc="400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Sladkovodné ryby</a:t>
            </a:r>
            <a:endParaRPr dirty="0" sz="1400" lang="en-US"/>
          </a:p>
        </p:txBody>
      </p:sp>
      <p:sp>
        <p:nvSpPr>
          <p:cNvPr id="1048655" name="Text 3"/>
          <p:cNvSpPr/>
          <p:nvPr/>
        </p:nvSpPr>
        <p:spPr>
          <a:xfrm>
            <a:off x="777240" y="1828800"/>
            <a:ext cx="5029200" cy="10058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44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Šťuka severná</a:t>
            </a:r>
            <a:endParaRPr dirty="0" sz="4400" lang="en-US"/>
          </a:p>
        </p:txBody>
      </p:sp>
      <p:sp>
        <p:nvSpPr>
          <p:cNvPr id="1048656" name="Text 4"/>
          <p:cNvSpPr/>
          <p:nvPr/>
        </p:nvSpPr>
        <p:spPr>
          <a:xfrm>
            <a:off x="777240" y="2834640"/>
            <a:ext cx="5029200" cy="45720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800" i="1" lang="en-US">
                <a:solidFill>
                  <a:srgbClr val="B0D8E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Esox lucius</a:t>
            </a:r>
            <a:endParaRPr dirty="0" sz="1800" lang="en-US"/>
          </a:p>
        </p:txBody>
      </p:sp>
      <p:sp>
        <p:nvSpPr>
          <p:cNvPr id="1048657" name="Text 5"/>
          <p:cNvSpPr/>
          <p:nvPr/>
        </p:nvSpPr>
        <p:spPr>
          <a:xfrm>
            <a:off x="777240" y="4389120"/>
            <a:ext cx="5029200" cy="36576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100" lang="en-US">
                <a:solidFill>
                  <a:srgbClr val="B0D8E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Walter Scharbert</a:t>
            </a:r>
            <a:endParaRPr dirty="0" sz="1100"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Image 0" descr="https://upload.wikimedia.org/wikipedia/commons/thumb/2/21/Esox_lucius_2008.jpg/1280px-Esox_lucius_2008.jp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rcRect/>
          <a:stretch>
            <a:fillRect/>
          </a:stretch>
        </p:blipFill>
        <p:spPr>
          <a:xfrm>
            <a:off x="4754880" y="365760"/>
            <a:ext cx="4023360" cy="4389120"/>
          </a:xfrm>
          <a:prstGeom prst="rect"/>
        </p:spPr>
      </p:pic>
      <p:sp>
        <p:nvSpPr>
          <p:cNvPr id="1048661" name="Shape 0"/>
          <p:cNvSpPr/>
          <p:nvPr/>
        </p:nvSpPr>
        <p:spPr>
          <a:xfrm>
            <a:off x="4754880" y="365760"/>
            <a:ext cx="4023360" cy="4389120"/>
          </a:xfrm>
          <a:prstGeom prst="rect"/>
          <a:solidFill>
            <a:srgbClr val="065A82">
              <a:alpha val="3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48662" name="Text 1"/>
          <p:cNvSpPr/>
          <p:nvPr/>
        </p:nvSpPr>
        <p:spPr>
          <a:xfrm>
            <a:off x="457200" y="365760"/>
            <a:ext cx="411480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8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Sladkovodné ryby</a:t>
            </a:r>
            <a:endParaRPr dirty="0" sz="2800" lang="en-US"/>
          </a:p>
        </p:txBody>
      </p:sp>
      <p:sp>
        <p:nvSpPr>
          <p:cNvPr id="1048663" name="Shape 2"/>
          <p:cNvSpPr/>
          <p:nvPr/>
        </p:nvSpPr>
        <p:spPr>
          <a:xfrm>
            <a:off x="457200" y="1234440"/>
            <a:ext cx="347472" cy="347472"/>
          </a:xfrm>
          <a:prstGeom prst="ellipse"/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664" name="Text 3"/>
          <p:cNvSpPr/>
          <p:nvPr/>
        </p:nvSpPr>
        <p:spPr>
          <a:xfrm>
            <a:off x="1005840" y="1188720"/>
            <a:ext cx="3474720" cy="45720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5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Žijú vo vode s nízkym obsahom soli</a:t>
            </a:r>
            <a:endParaRPr dirty="0" sz="1500" lang="en-US"/>
          </a:p>
        </p:txBody>
      </p:sp>
      <p:sp>
        <p:nvSpPr>
          <p:cNvPr id="1048665" name="Shape 4"/>
          <p:cNvSpPr/>
          <p:nvPr/>
        </p:nvSpPr>
        <p:spPr>
          <a:xfrm>
            <a:off x="457200" y="2057400"/>
            <a:ext cx="347472" cy="347472"/>
          </a:xfrm>
          <a:prstGeom prst="ellipse"/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666" name="Text 5"/>
          <p:cNvSpPr/>
          <p:nvPr/>
        </p:nvSpPr>
        <p:spPr>
          <a:xfrm>
            <a:off x="1005840" y="2011680"/>
            <a:ext cx="3474720" cy="45720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5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Dýchajú pomocou žiabier</a:t>
            </a:r>
            <a:endParaRPr dirty="0" sz="1500" lang="en-US"/>
          </a:p>
        </p:txBody>
      </p:sp>
      <p:sp>
        <p:nvSpPr>
          <p:cNvPr id="1048667" name="Shape 6"/>
          <p:cNvSpPr/>
          <p:nvPr/>
        </p:nvSpPr>
        <p:spPr>
          <a:xfrm>
            <a:off x="457200" y="2880360"/>
            <a:ext cx="347472" cy="347472"/>
          </a:xfrm>
          <a:prstGeom prst="ellipse"/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668" name="Text 7"/>
          <p:cNvSpPr/>
          <p:nvPr/>
        </p:nvSpPr>
        <p:spPr>
          <a:xfrm>
            <a:off x="1005840" y="2834640"/>
            <a:ext cx="3474720" cy="45720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5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Pohybujú sa pomocou plutiev</a:t>
            </a:r>
            <a:endParaRPr dirty="0" sz="1500" lang="en-US"/>
          </a:p>
        </p:txBody>
      </p:sp>
      <p:sp>
        <p:nvSpPr>
          <p:cNvPr id="1048669" name="Shape 8"/>
          <p:cNvSpPr/>
          <p:nvPr/>
        </p:nvSpPr>
        <p:spPr>
          <a:xfrm>
            <a:off x="457200" y="3703320"/>
            <a:ext cx="347472" cy="347472"/>
          </a:xfrm>
          <a:prstGeom prst="ellipse"/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670" name="Text 9"/>
          <p:cNvSpPr/>
          <p:nvPr/>
        </p:nvSpPr>
        <p:spPr>
          <a:xfrm>
            <a:off x="1005840" y="3657600"/>
            <a:ext cx="3474720" cy="45720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5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Sú studenokrvné živočíchy</a:t>
            </a:r>
            <a:endParaRPr dirty="0" sz="1500"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1" name="Image 0" descr="https://upload.wikimedia.org/wikipedia/commons/thumb/4/4e/Esox_lucius.jpg/1280px-Esox_lucius.jp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rcRect/>
          <a:stretch>
            <a:fillRect/>
          </a:stretch>
        </p:blipFill>
        <p:spPr>
          <a:xfrm>
            <a:off x="5029200" y="0"/>
            <a:ext cx="4114800" cy="5143500"/>
          </a:xfrm>
          <a:prstGeom prst="rect"/>
        </p:spPr>
      </p:pic>
      <p:sp>
        <p:nvSpPr>
          <p:cNvPr id="1048674" name="Shape 0"/>
          <p:cNvSpPr/>
          <p:nvPr/>
        </p:nvSpPr>
        <p:spPr>
          <a:xfrm>
            <a:off x="5029200" y="0"/>
            <a:ext cx="4114800" cy="5143500"/>
          </a:xfrm>
          <a:prstGeom prst="rect"/>
          <a:solidFill>
            <a:srgbClr val="065A82">
              <a:alpha val="4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48675" name="Text 1"/>
          <p:cNvSpPr/>
          <p:nvPr/>
        </p:nvSpPr>
        <p:spPr>
          <a:xfrm>
            <a:off x="457200" y="320040"/>
            <a:ext cx="438912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Šťuka severná</a:t>
            </a:r>
            <a:endParaRPr dirty="0" sz="2600" lang="en-US"/>
          </a:p>
        </p:txBody>
      </p:sp>
      <p:sp>
        <p:nvSpPr>
          <p:cNvPr id="1048676" name="Text 2"/>
          <p:cNvSpPr/>
          <p:nvPr/>
        </p:nvSpPr>
        <p:spPr>
          <a:xfrm>
            <a:off x="457200" y="822960"/>
            <a:ext cx="4389120" cy="3200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200" i="1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Esox lucius</a:t>
            </a:r>
            <a:endParaRPr dirty="0" sz="1200" lang="en-US"/>
          </a:p>
        </p:txBody>
      </p:sp>
      <p:sp>
        <p:nvSpPr>
          <p:cNvPr id="1048677" name="Text 3"/>
          <p:cNvSpPr/>
          <p:nvPr/>
        </p:nvSpPr>
        <p:spPr>
          <a:xfrm>
            <a:off x="457200" y="1234440"/>
            <a:ext cx="4297680" cy="3634740"/>
          </a:xfrm>
          <a:prstGeom prst="rect"/>
          <a:noFill/>
        </p:spPr>
        <p:txBody>
          <a:bodyPr anchor="t" bIns="0" lIns="0" rIns="0" rtlCol="0" tIns="254000" wrap="square"/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sladkovodná dravá ryba</a:t>
            </a:r>
            <a:endParaRPr dirty="0" sz="1400" lang="en-US">
              <a:solidFill>
                <a:schemeClr val="bg1"/>
              </a:solidFill>
            </a:endParaRPr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vyskytuje sa v Európe, Ázii a Severnej Amerike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má dlhé valcovité telo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sfarbenie je zelenohnedé so svetlými škvrnami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veľkosť: 50 – 100 cm</a:t>
            </a:r>
            <a:endParaRPr dirty="0" sz="1400" lang="en-US"/>
          </a:p>
        </p:txBody>
      </p:sp>
      <p:pic>
        <p:nvPicPr>
          <p:cNvPr id="2097162" name="Picture 6" descr="Esox_lucius1-removebg-preview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643255" y="2164080"/>
            <a:ext cx="7858125" cy="2876550"/>
          </a:xfrm>
          <a:prstGeom prst="rect"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3" name="Image 0" descr="https://upload.wikimedia.org/wikipedia/commons/thumb/2/21/Esox_lucius_2008.jpg/1280px-Esox_lucius_2008.jp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rcRect/>
          <a:stretch>
            <a:fillRect/>
          </a:stretch>
        </p:blipFill>
        <p:spPr>
          <a:xfrm>
            <a:off x="5029200" y="0"/>
            <a:ext cx="4114800" cy="5143500"/>
          </a:xfrm>
          <a:prstGeom prst="rect"/>
        </p:spPr>
      </p:pic>
      <p:sp>
        <p:nvSpPr>
          <p:cNvPr id="1048681" name="Shape 0"/>
          <p:cNvSpPr/>
          <p:nvPr/>
        </p:nvSpPr>
        <p:spPr>
          <a:xfrm>
            <a:off x="5029200" y="0"/>
            <a:ext cx="4114800" cy="5143500"/>
          </a:xfrm>
          <a:prstGeom prst="rect"/>
          <a:solidFill>
            <a:srgbClr val="065A82">
              <a:alpha val="4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48682" name="Text 1"/>
          <p:cNvSpPr/>
          <p:nvPr/>
        </p:nvSpPr>
        <p:spPr>
          <a:xfrm>
            <a:off x="457200" y="320040"/>
            <a:ext cx="438912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Spôsob života</a:t>
            </a:r>
            <a:endParaRPr dirty="0" sz="2600" lang="en-US"/>
          </a:p>
        </p:txBody>
      </p:sp>
      <p:sp>
        <p:nvSpPr>
          <p:cNvPr id="1048683" name="Text 2"/>
          <p:cNvSpPr/>
          <p:nvPr/>
        </p:nvSpPr>
        <p:spPr>
          <a:xfrm>
            <a:off x="457200" y="1005840"/>
            <a:ext cx="4297680" cy="3863340"/>
          </a:xfrm>
          <a:prstGeom prst="rect"/>
          <a:noFill/>
        </p:spPr>
        <p:txBody>
          <a:bodyPr anchor="t" bIns="0" lIns="0" rIns="0" rtlCol="0" tIns="254000" wrap="square"/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žije v riekach, jazerách, rybníkoch a pomaly tečúcich vodách</a:t>
            </a:r>
            <a:endParaRPr dirty="0" sz="1400" lang="en-US">
              <a:solidFill>
                <a:schemeClr val="bg1"/>
              </a:solidFill>
            </a:endParaRPr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vedie samotársky život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ukrýva sa medzi vodnými rastlinami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aktívna je ráno a večer</a:t>
            </a:r>
            <a:endParaRPr dirty="0" sz="1400"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7"/>
        </a:solidFill>
        <a:effectLst/>
      </p:bgPr>
    </p:bg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8" name="Image 0" descr="https://upload.wikimedia.org/wikipedia/commons/thumb/e/e8/Esox_lucius_1.jpg/1280px-Esox_lucius_1.jpg"/>
          <p:cNvPicPr>
            <a:picLocks noChangeAspect="1"/>
          </p:cNvPicPr>
          <p:nvPr/>
        </p:nvPicPr>
        <p:blipFill>
          <a:blip xmlns:r="http://schemas.openxmlformats.org/officeDocument/2006/relationships" r:embed="rId1">
            <a:alphaModFix amt="70000"/>
          </a:blip>
          <a:srcRect/>
          <a:stretch>
            <a:fillRect/>
          </a:stretch>
        </p:blipFill>
        <p:spPr>
          <a:xfrm>
            <a:off x="0" y="2926080"/>
            <a:ext cx="9144000" cy="2194560"/>
          </a:xfrm>
          <a:prstGeom prst="rect"/>
        </p:spPr>
      </p:pic>
      <p:sp>
        <p:nvSpPr>
          <p:cNvPr id="1048632" name="Shape 0"/>
          <p:cNvSpPr/>
          <p:nvPr/>
        </p:nvSpPr>
        <p:spPr>
          <a:xfrm>
            <a:off x="0" y="2926080"/>
            <a:ext cx="9144000" cy="2194560"/>
          </a:xfrm>
          <a:prstGeom prst="rect"/>
          <a:solidFill>
            <a:srgbClr val="EAF4F7">
              <a:alpha val="80000"/>
            </a:srgbClr>
          </a:solidFill>
          <a:ln w="12700">
            <a:solidFill>
              <a:srgbClr val="EAF4F7">
                <a:alpha val="0"/>
              </a:srgbClr>
            </a:solidFill>
            <a:prstDash val="solid"/>
          </a:ln>
        </p:spPr>
      </p:sp>
      <p:sp>
        <p:nvSpPr>
          <p:cNvPr id="1048633" name="Text 1"/>
          <p:cNvSpPr/>
          <p:nvPr/>
        </p:nvSpPr>
        <p:spPr>
          <a:xfrm>
            <a:off x="457200" y="274320"/>
            <a:ext cx="822960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800" lang="en-US">
                <a:solidFill>
                  <a:srgbClr val="065A8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Tráviaca sústava</a:t>
            </a:r>
            <a:endParaRPr dirty="0" sz="2800" lang="en-US"/>
          </a:p>
        </p:txBody>
      </p:sp>
      <p:sp>
        <p:nvSpPr>
          <p:cNvPr id="1048634" name="Shape 2"/>
          <p:cNvSpPr/>
          <p:nvPr/>
        </p:nvSpPr>
        <p:spPr>
          <a:xfrm>
            <a:off x="457200" y="914400"/>
            <a:ext cx="1371600" cy="457200"/>
          </a:xfrm>
          <a:prstGeom prst="ellipse"/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635" name="Text 3"/>
          <p:cNvSpPr/>
          <p:nvPr/>
        </p:nvSpPr>
        <p:spPr>
          <a:xfrm>
            <a:off x="457200" y="914400"/>
            <a:ext cx="1371600" cy="457200"/>
          </a:xfrm>
          <a:prstGeom prst="rect"/>
          <a:noFill/>
        </p:spPr>
        <p:txBody>
          <a:bodyPr anchor="ctr" bIns="0" lIns="0" rIns="0" rtlCol="0" tIns="0" wrap="square"/>
          <a:p>
            <a:pPr algn="ctr" indent="0" marL="0">
              <a:buNone/>
            </a:pPr>
            <a:r>
              <a:rPr b="1" dirty="0" sz="12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Ústa</a:t>
            </a:r>
            <a:endParaRPr dirty="0" sz="1200" lang="en-US"/>
          </a:p>
        </p:txBody>
      </p:sp>
      <p:sp>
        <p:nvSpPr>
          <p:cNvPr id="1048636" name="Shape 4"/>
          <p:cNvSpPr/>
          <p:nvPr/>
        </p:nvSpPr>
        <p:spPr>
          <a:xfrm>
            <a:off x="1828800" y="1143000"/>
            <a:ext cx="292608" cy="0"/>
          </a:xfrm>
          <a:prstGeom prst="line"/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1048637" name="Shape 5"/>
          <p:cNvSpPr/>
          <p:nvPr/>
        </p:nvSpPr>
        <p:spPr>
          <a:xfrm>
            <a:off x="2121408" y="914400"/>
            <a:ext cx="1371600" cy="457200"/>
          </a:xfrm>
          <a:prstGeom prst="ellipse"/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638" name="Text 6"/>
          <p:cNvSpPr/>
          <p:nvPr/>
        </p:nvSpPr>
        <p:spPr>
          <a:xfrm>
            <a:off x="2121408" y="914400"/>
            <a:ext cx="1371600" cy="457200"/>
          </a:xfrm>
          <a:prstGeom prst="rect"/>
          <a:noFill/>
        </p:spPr>
        <p:txBody>
          <a:bodyPr anchor="ctr" bIns="0" lIns="0" rIns="0" rtlCol="0" tIns="0" wrap="square"/>
          <a:p>
            <a:pPr algn="ctr" indent="0" marL="0">
              <a:buNone/>
            </a:pPr>
            <a:r>
              <a:rPr b="1" dirty="0" sz="12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Hltan</a:t>
            </a:r>
            <a:endParaRPr dirty="0" sz="1200" lang="en-US"/>
          </a:p>
        </p:txBody>
      </p:sp>
      <p:sp>
        <p:nvSpPr>
          <p:cNvPr id="1048639" name="Shape 7"/>
          <p:cNvSpPr/>
          <p:nvPr/>
        </p:nvSpPr>
        <p:spPr>
          <a:xfrm>
            <a:off x="3493008" y="1143000"/>
            <a:ext cx="292608" cy="0"/>
          </a:xfrm>
          <a:prstGeom prst="line"/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1048640" name="Shape 8"/>
          <p:cNvSpPr/>
          <p:nvPr/>
        </p:nvSpPr>
        <p:spPr>
          <a:xfrm>
            <a:off x="3785616" y="914400"/>
            <a:ext cx="1371600" cy="457200"/>
          </a:xfrm>
          <a:prstGeom prst="ellipse"/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641" name="Text 9"/>
          <p:cNvSpPr/>
          <p:nvPr/>
        </p:nvSpPr>
        <p:spPr>
          <a:xfrm>
            <a:off x="3785616" y="914400"/>
            <a:ext cx="1371600" cy="457200"/>
          </a:xfrm>
          <a:prstGeom prst="rect"/>
          <a:noFill/>
        </p:spPr>
        <p:txBody>
          <a:bodyPr anchor="ctr" bIns="0" lIns="0" rIns="0" rtlCol="0" tIns="0" wrap="square"/>
          <a:p>
            <a:pPr algn="ctr" indent="0" marL="0">
              <a:buNone/>
            </a:pPr>
            <a:r>
              <a:rPr b="1" dirty="0" sz="12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Pažerák</a:t>
            </a:r>
            <a:endParaRPr dirty="0" sz="1200" lang="en-US"/>
          </a:p>
        </p:txBody>
      </p:sp>
      <p:sp>
        <p:nvSpPr>
          <p:cNvPr id="1048642" name="Shape 10"/>
          <p:cNvSpPr/>
          <p:nvPr/>
        </p:nvSpPr>
        <p:spPr>
          <a:xfrm>
            <a:off x="5157216" y="1143000"/>
            <a:ext cx="292608" cy="0"/>
          </a:xfrm>
          <a:prstGeom prst="line"/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1048643" name="Shape 11"/>
          <p:cNvSpPr/>
          <p:nvPr/>
        </p:nvSpPr>
        <p:spPr>
          <a:xfrm>
            <a:off x="5449824" y="914400"/>
            <a:ext cx="1371600" cy="457200"/>
          </a:xfrm>
          <a:prstGeom prst="ellipse"/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644" name="Text 12"/>
          <p:cNvSpPr/>
          <p:nvPr/>
        </p:nvSpPr>
        <p:spPr>
          <a:xfrm>
            <a:off x="5449824" y="914400"/>
            <a:ext cx="1371600" cy="457200"/>
          </a:xfrm>
          <a:prstGeom prst="rect"/>
          <a:noFill/>
        </p:spPr>
        <p:txBody>
          <a:bodyPr anchor="ctr" bIns="0" lIns="0" rIns="0" rtlCol="0" tIns="0" wrap="square"/>
          <a:p>
            <a:pPr algn="ctr" indent="0" marL="0">
              <a:buNone/>
            </a:pPr>
            <a:r>
              <a:rPr b="1" dirty="0" sz="12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Žalúdok</a:t>
            </a:r>
            <a:endParaRPr dirty="0" sz="1200" lang="en-US"/>
          </a:p>
        </p:txBody>
      </p:sp>
      <p:sp>
        <p:nvSpPr>
          <p:cNvPr id="1048645" name="Shape 13"/>
          <p:cNvSpPr/>
          <p:nvPr/>
        </p:nvSpPr>
        <p:spPr>
          <a:xfrm>
            <a:off x="6821424" y="1143000"/>
            <a:ext cx="292608" cy="0"/>
          </a:xfrm>
          <a:prstGeom prst="line"/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1048646" name="Shape 14"/>
          <p:cNvSpPr/>
          <p:nvPr/>
        </p:nvSpPr>
        <p:spPr>
          <a:xfrm>
            <a:off x="7114032" y="914400"/>
            <a:ext cx="1371600" cy="457200"/>
          </a:xfrm>
          <a:prstGeom prst="ellipse"/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647" name="Text 15"/>
          <p:cNvSpPr/>
          <p:nvPr/>
        </p:nvSpPr>
        <p:spPr>
          <a:xfrm>
            <a:off x="7114032" y="914400"/>
            <a:ext cx="1371600" cy="457200"/>
          </a:xfrm>
          <a:prstGeom prst="rect"/>
          <a:noFill/>
        </p:spPr>
        <p:txBody>
          <a:bodyPr anchor="ctr" bIns="0" lIns="0" rIns="0" rtlCol="0" tIns="0" wrap="square"/>
          <a:p>
            <a:pPr algn="ctr" indent="0" marL="0">
              <a:buNone/>
            </a:pPr>
            <a:r>
              <a:rPr b="1" dirty="0" sz="12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Črevá</a:t>
            </a:r>
            <a:endParaRPr dirty="0" sz="1200" lang="en-US"/>
          </a:p>
        </p:txBody>
      </p:sp>
      <p:sp>
        <p:nvSpPr>
          <p:cNvPr id="1048648" name="Text 16"/>
          <p:cNvSpPr/>
          <p:nvPr/>
        </p:nvSpPr>
        <p:spPr>
          <a:xfrm>
            <a:off x="457200" y="1645920"/>
            <a:ext cx="8229600" cy="1188720"/>
          </a:xfrm>
          <a:prstGeom prst="rect"/>
          <a:noFill/>
        </p:spPr>
        <p:txBody>
          <a:bodyPr anchor="ctr" bIns="0" lIns="0" rIns="0" rtlCol="0" tIns="254000" wrap="square"/>
          <a:p>
            <a:pPr indent="-342900" marL="342900">
              <a:spcAft>
                <a:spcPts val="500"/>
              </a:spcAft>
              <a:buSzPct val="100000"/>
              <a:buChar char="•"/>
            </a:pPr>
            <a:r>
              <a:rPr dirty="0" sz="1400" lang="en-US">
                <a:solidFill>
                  <a:srgbClr val="0A2E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ústa s ostrými zubami slúžia na chytanie koristi</a:t>
            </a:r>
            <a:endParaRPr dirty="0" sz="1400" lang="en-US"/>
          </a:p>
          <a:p>
            <a:pPr indent="-342900" marL="342900">
              <a:spcAft>
                <a:spcPts val="500"/>
              </a:spcAft>
              <a:buSzPct val="100000"/>
              <a:buChar char="•"/>
            </a:pPr>
            <a:r>
              <a:rPr dirty="0" sz="1400" lang="en-US">
                <a:solidFill>
                  <a:srgbClr val="0A2E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potravu prehĺta väčšinou celú</a:t>
            </a:r>
            <a:endParaRPr dirty="0" sz="1400" lang="en-US"/>
          </a:p>
          <a:p>
            <a:pPr indent="-342900" marL="342900">
              <a:spcAft>
                <a:spcPts val="500"/>
              </a:spcAft>
              <a:buSzPct val="100000"/>
              <a:buChar char="•"/>
            </a:pPr>
            <a:r>
              <a:rPr dirty="0" sz="1400" lang="en-US">
                <a:solidFill>
                  <a:srgbClr val="0A2E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mäsožravec – živí sa menšími rybami a žabami</a:t>
            </a:r>
            <a:endParaRPr dirty="0" sz="1400"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6" name="Image 0" descr="https://upload.wikimedia.org/wikipedia/commons/thumb/4/4e/Esox_lucius.jpg/1280px-Esox_lucius.jp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rcRect/>
          <a:stretch>
            <a:fillRect/>
          </a:stretch>
        </p:blipFill>
        <p:spPr>
          <a:xfrm>
            <a:off x="5029200" y="0"/>
            <a:ext cx="4114800" cy="5143500"/>
          </a:xfrm>
          <a:prstGeom prst="rect"/>
        </p:spPr>
      </p:pic>
      <p:sp>
        <p:nvSpPr>
          <p:cNvPr id="1048610" name="Shape 0"/>
          <p:cNvSpPr/>
          <p:nvPr/>
        </p:nvSpPr>
        <p:spPr>
          <a:xfrm>
            <a:off x="5029200" y="0"/>
            <a:ext cx="4114800" cy="5143500"/>
          </a:xfrm>
          <a:prstGeom prst="rect"/>
          <a:solidFill>
            <a:srgbClr val="065A82">
              <a:alpha val="4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48611" name="Text 1"/>
          <p:cNvSpPr/>
          <p:nvPr/>
        </p:nvSpPr>
        <p:spPr>
          <a:xfrm>
            <a:off x="457200" y="320040"/>
            <a:ext cx="438912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Dýchacia sústava</a:t>
            </a:r>
            <a:endParaRPr dirty="0" sz="2600" lang="en-US"/>
          </a:p>
        </p:txBody>
      </p:sp>
      <p:sp>
        <p:nvSpPr>
          <p:cNvPr id="1048612" name="Text 2"/>
          <p:cNvSpPr/>
          <p:nvPr/>
        </p:nvSpPr>
        <p:spPr>
          <a:xfrm>
            <a:off x="457200" y="1005840"/>
            <a:ext cx="4297680" cy="3863340"/>
          </a:xfrm>
          <a:prstGeom prst="rect"/>
          <a:noFill/>
        </p:spPr>
        <p:txBody>
          <a:bodyPr anchor="t" bIns="0" lIns="0" rIns="0" rtlCol="0" tIns="254000" wrap="square"/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dýcha pomocou žiabier</a:t>
            </a:r>
            <a:endParaRPr dirty="0" sz="1400" lang="en-US">
              <a:solidFill>
                <a:schemeClr val="bg1"/>
              </a:solidFill>
            </a:endParaRPr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voda prechádza cez ústa ku žiabram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zo žiabier získava kyslík rozpustený vo vode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žiabre sú chránené žiabrovými viečkami</a:t>
            </a:r>
            <a:endParaRPr dirty="0" sz="1400"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8" name="Text 0"/>
          <p:cNvSpPr/>
          <p:nvPr/>
        </p:nvSpPr>
        <p:spPr>
          <a:xfrm>
            <a:off x="457200" y="320040"/>
            <a:ext cx="822960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8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Obehová sústava</a:t>
            </a:r>
            <a:endParaRPr dirty="0" sz="2800" lang="en-US"/>
          </a:p>
        </p:txBody>
      </p:sp>
      <p:sp>
        <p:nvSpPr>
          <p:cNvPr id="1048589" name="Shape 1"/>
          <p:cNvSpPr/>
          <p:nvPr/>
        </p:nvSpPr>
        <p:spPr>
          <a:xfrm>
            <a:off x="365760" y="1097280"/>
            <a:ext cx="2560320" cy="2743200"/>
          </a:xfrm>
          <a:prstGeom prst="rect"/>
          <a:solidFill>
            <a:srgbClr val="0D3D55"/>
          </a:solidFill>
          <a:ln w="19050">
            <a:solidFill>
              <a:srgbClr val="02C39A"/>
            </a:solidFill>
            <a:prstDash val="solid"/>
          </a:ln>
          <a:effectLst>
            <a:outerShdw algn="bl" blurRad="101600" dir="8100000" dist="38100" rotWithShape="0">
              <a:srgbClr val="000000">
                <a:alpha val="30000"/>
              </a:srgbClr>
            </a:outerShdw>
          </a:effectLst>
        </p:spPr>
      </p:sp>
      <p:sp>
        <p:nvSpPr>
          <p:cNvPr id="1048590" name="Shape 2"/>
          <p:cNvSpPr/>
          <p:nvPr/>
        </p:nvSpPr>
        <p:spPr>
          <a:xfrm>
            <a:off x="365760" y="1097280"/>
            <a:ext cx="2560320" cy="54864"/>
          </a:xfrm>
          <a:prstGeom prst="rect"/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591" name="Text 3"/>
          <p:cNvSpPr/>
          <p:nvPr/>
        </p:nvSpPr>
        <p:spPr>
          <a:xfrm>
            <a:off x="502920" y="1234440"/>
            <a:ext cx="228600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14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Uzavretá sústava</a:t>
            </a:r>
            <a:endParaRPr dirty="0" sz="1400" lang="en-US"/>
          </a:p>
        </p:txBody>
      </p:sp>
      <p:sp>
        <p:nvSpPr>
          <p:cNvPr id="1048592" name="Text 4"/>
          <p:cNvSpPr/>
          <p:nvPr/>
        </p:nvSpPr>
        <p:spPr>
          <a:xfrm>
            <a:off x="502920" y="1874520"/>
            <a:ext cx="2286000" cy="164592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Krv prúdi v uzavretom systéme ciev po celom tele</a:t>
            </a:r>
            <a:endParaRPr dirty="0" sz="1300" lang="en-US"/>
          </a:p>
        </p:txBody>
      </p:sp>
      <p:sp>
        <p:nvSpPr>
          <p:cNvPr id="1048593" name="Shape 5"/>
          <p:cNvSpPr/>
          <p:nvPr/>
        </p:nvSpPr>
        <p:spPr>
          <a:xfrm>
            <a:off x="3200400" y="1097280"/>
            <a:ext cx="2560320" cy="2743200"/>
          </a:xfrm>
          <a:prstGeom prst="rect"/>
          <a:solidFill>
            <a:srgbClr val="0D3D55"/>
          </a:solidFill>
          <a:ln w="19050">
            <a:solidFill>
              <a:srgbClr val="02C39A"/>
            </a:solidFill>
            <a:prstDash val="solid"/>
          </a:ln>
          <a:effectLst>
            <a:outerShdw algn="bl" blurRad="101600" dir="8100000" dist="38100" rotWithShape="0">
              <a:srgbClr val="000000">
                <a:alpha val="30000"/>
              </a:srgbClr>
            </a:outerShdw>
          </a:effectLst>
        </p:spPr>
      </p:sp>
      <p:sp>
        <p:nvSpPr>
          <p:cNvPr id="1048594" name="Shape 6"/>
          <p:cNvSpPr/>
          <p:nvPr/>
        </p:nvSpPr>
        <p:spPr>
          <a:xfrm>
            <a:off x="3200400" y="1097280"/>
            <a:ext cx="2560320" cy="54864"/>
          </a:xfrm>
          <a:prstGeom prst="rect"/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595" name="Text 7"/>
          <p:cNvSpPr/>
          <p:nvPr/>
        </p:nvSpPr>
        <p:spPr>
          <a:xfrm>
            <a:off x="3337560" y="1234440"/>
            <a:ext cx="228600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14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Dvojdielne srdce</a:t>
            </a:r>
            <a:endParaRPr dirty="0" sz="1400" lang="en-US"/>
          </a:p>
        </p:txBody>
      </p:sp>
      <p:sp>
        <p:nvSpPr>
          <p:cNvPr id="1048596" name="Text 8"/>
          <p:cNvSpPr/>
          <p:nvPr/>
        </p:nvSpPr>
        <p:spPr>
          <a:xfrm>
            <a:off x="3337560" y="1874520"/>
            <a:ext cx="2286000" cy="164592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Jedna predsieň a jedna komora</a:t>
            </a:r>
            <a:endParaRPr dirty="0" sz="1300" lang="en-US"/>
          </a:p>
        </p:txBody>
      </p:sp>
      <p:sp>
        <p:nvSpPr>
          <p:cNvPr id="1048597" name="Shape 9"/>
          <p:cNvSpPr/>
          <p:nvPr/>
        </p:nvSpPr>
        <p:spPr>
          <a:xfrm>
            <a:off x="6035040" y="1097280"/>
            <a:ext cx="2560320" cy="2743200"/>
          </a:xfrm>
          <a:prstGeom prst="rect"/>
          <a:solidFill>
            <a:srgbClr val="0D3D55"/>
          </a:solidFill>
          <a:ln w="19050">
            <a:solidFill>
              <a:srgbClr val="02C39A"/>
            </a:solidFill>
            <a:prstDash val="solid"/>
          </a:ln>
          <a:effectLst>
            <a:outerShdw algn="bl" blurRad="101600" dir="8100000" dist="38100" rotWithShape="0">
              <a:srgbClr val="000000">
                <a:alpha val="30000"/>
              </a:srgbClr>
            </a:outerShdw>
          </a:effectLst>
        </p:spPr>
      </p:sp>
      <p:sp>
        <p:nvSpPr>
          <p:cNvPr id="1048598" name="Shape 10"/>
          <p:cNvSpPr/>
          <p:nvPr/>
        </p:nvSpPr>
        <p:spPr>
          <a:xfrm>
            <a:off x="6035040" y="1097280"/>
            <a:ext cx="2560320" cy="54864"/>
          </a:xfrm>
          <a:prstGeom prst="rect"/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48599" name="Text 11"/>
          <p:cNvSpPr/>
          <p:nvPr/>
        </p:nvSpPr>
        <p:spPr>
          <a:xfrm>
            <a:off x="6172200" y="1234440"/>
            <a:ext cx="228600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14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Funkcia krvi</a:t>
            </a:r>
            <a:endParaRPr dirty="0" sz="1400" lang="en-US"/>
          </a:p>
        </p:txBody>
      </p:sp>
      <p:sp>
        <p:nvSpPr>
          <p:cNvPr id="1048600" name="Text 12"/>
          <p:cNvSpPr/>
          <p:nvPr/>
        </p:nvSpPr>
        <p:spPr>
          <a:xfrm>
            <a:off x="6172200" y="1874520"/>
            <a:ext cx="2286000" cy="164592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Rozvádza kyslík a živiny po tele</a:t>
            </a:r>
            <a:endParaRPr dirty="0" sz="1300" lang="en-US"/>
          </a:p>
        </p:txBody>
      </p:sp>
      <p:pic>
        <p:nvPicPr>
          <p:cNvPr id="2097154" name="Image 0" descr="https://upload.wikimedia.org/wikipedia/commons/thumb/e/e8/Esox_lucius_1.jpg/1280px-Esox_lucius_1.jpg"/>
          <p:cNvPicPr>
            <a:picLocks noChangeAspect="1"/>
          </p:cNvPicPr>
          <p:nvPr/>
        </p:nvPicPr>
        <p:blipFill>
          <a:blip xmlns:r="http://schemas.openxmlformats.org/officeDocument/2006/relationships" r:embed="rId1">
            <a:alphaModFix amt="45000"/>
          </a:blip>
          <a:srcRect/>
          <a:stretch>
            <a:fillRect/>
          </a:stretch>
        </p:blipFill>
        <p:spPr>
          <a:xfrm>
            <a:off x="0" y="4206240"/>
            <a:ext cx="9144000" cy="914400"/>
          </a:xfrm>
          <a:prstGeom prst="rect"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2" name="Image 0" descr="https://upload.wikimedia.org/wikipedia/commons/thumb/2/21/Esox_lucius_2008.jpg/1280px-Esox_lucius_2008.jp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rcRect/>
          <a:stretch>
            <a:fillRect/>
          </a:stretch>
        </p:blipFill>
        <p:spPr>
          <a:xfrm>
            <a:off x="5029200" y="0"/>
            <a:ext cx="4114800" cy="5143500"/>
          </a:xfrm>
          <a:prstGeom prst="rect"/>
        </p:spPr>
      </p:pic>
      <p:sp>
        <p:nvSpPr>
          <p:cNvPr id="1048576" name="Shape 0"/>
          <p:cNvSpPr/>
          <p:nvPr/>
        </p:nvSpPr>
        <p:spPr>
          <a:xfrm>
            <a:off x="5029200" y="0"/>
            <a:ext cx="4114800" cy="5143500"/>
          </a:xfrm>
          <a:prstGeom prst="rect"/>
          <a:solidFill>
            <a:srgbClr val="065A82">
              <a:alpha val="4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48577" name="Text 1"/>
          <p:cNvSpPr/>
          <p:nvPr/>
        </p:nvSpPr>
        <p:spPr>
          <a:xfrm>
            <a:off x="457200" y="320040"/>
            <a:ext cx="438912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Nervová sústava</a:t>
            </a:r>
            <a:endParaRPr dirty="0" sz="2600" lang="en-US"/>
          </a:p>
        </p:txBody>
      </p:sp>
      <p:sp>
        <p:nvSpPr>
          <p:cNvPr id="1048578" name="Text 2"/>
          <p:cNvSpPr/>
          <p:nvPr/>
        </p:nvSpPr>
        <p:spPr>
          <a:xfrm>
            <a:off x="457200" y="1005840"/>
            <a:ext cx="4297680" cy="3863340"/>
          </a:xfrm>
          <a:prstGeom prst="rect"/>
          <a:noFill/>
        </p:spPr>
        <p:txBody>
          <a:bodyPr anchor="t" bIns="0" lIns="0" rIns="0" rtlCol="0" tIns="254000" wrap="square"/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tvoria ju: mozog, miecha a nervy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má dobre vyvinutý zrak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</a:t>
            </a: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4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č</a:t>
            </a:r>
            <a:r>
              <a:rPr altLang="en-US"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 čiara zachytáva pohyby a vibrácie vo vode</a:t>
            </a:r>
            <a:endParaRPr dirty="0" sz="1400"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3" name="Image 0" descr="https://upload.wikimedia.org/wikipedia/commons/thumb/4/4e/Esox_lucius.jpg/1280px-Esox_lucius.jp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rcRect/>
          <a:stretch>
            <a:fillRect/>
          </a:stretch>
        </p:blipFill>
        <p:spPr>
          <a:xfrm>
            <a:off x="5029200" y="0"/>
            <a:ext cx="4114800" cy="5143500"/>
          </a:xfrm>
          <a:prstGeom prst="rect"/>
        </p:spPr>
      </p:pic>
      <p:sp>
        <p:nvSpPr>
          <p:cNvPr id="1048582" name="Shape 0"/>
          <p:cNvSpPr/>
          <p:nvPr/>
        </p:nvSpPr>
        <p:spPr>
          <a:xfrm>
            <a:off x="5029200" y="0"/>
            <a:ext cx="4114800" cy="5143500"/>
          </a:xfrm>
          <a:prstGeom prst="rect"/>
          <a:solidFill>
            <a:srgbClr val="065A82">
              <a:alpha val="4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48583" name="Text 1"/>
          <p:cNvSpPr/>
          <p:nvPr/>
        </p:nvSpPr>
        <p:spPr>
          <a:xfrm>
            <a:off x="457200" y="320040"/>
            <a:ext cx="438912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Vylučovacia sústava</a:t>
            </a:r>
            <a:endParaRPr dirty="0" sz="2600" lang="en-US"/>
          </a:p>
        </p:txBody>
      </p:sp>
      <p:sp>
        <p:nvSpPr>
          <p:cNvPr id="1048584" name="Text 2"/>
          <p:cNvSpPr/>
          <p:nvPr/>
        </p:nvSpPr>
        <p:spPr>
          <a:xfrm>
            <a:off x="457200" y="1005840"/>
            <a:ext cx="4297680" cy="3863340"/>
          </a:xfrm>
          <a:prstGeom prst="rect"/>
          <a:noFill/>
        </p:spPr>
        <p:txBody>
          <a:bodyPr anchor="t" bIns="0" lIns="0" rIns="0" rtlCol="0" tIns="254000" wrap="square"/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tvorená obličkami</a:t>
            </a:r>
            <a:endParaRPr dirty="0" sz="1400" lang="en-US">
              <a:solidFill>
                <a:schemeClr val="bg1"/>
              </a:solidFill>
            </a:endParaRPr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odstraňuje odpadové látky z tela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pomáha udržiavať správne množstvo vody a solí v tele</a:t>
            </a:r>
            <a:endParaRPr dirty="0" sz="1400"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5" name="Image 0" descr="https://upload.wikimedia.org/wikipedia/commons/thumb/4/4e/Esox_lucius.jpg/1280px-Esox_lucius.jp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rcRect/>
          <a:stretch>
            <a:fillRect/>
          </a:stretch>
        </p:blipFill>
        <p:spPr>
          <a:xfrm>
            <a:off x="5029200" y="0"/>
            <a:ext cx="4114800" cy="5143500"/>
          </a:xfrm>
          <a:prstGeom prst="rect"/>
        </p:spPr>
      </p:pic>
      <p:sp>
        <p:nvSpPr>
          <p:cNvPr id="1048604" name="Shape 0"/>
          <p:cNvSpPr/>
          <p:nvPr/>
        </p:nvSpPr>
        <p:spPr>
          <a:xfrm>
            <a:off x="5029200" y="0"/>
            <a:ext cx="4114800" cy="5143500"/>
          </a:xfrm>
          <a:prstGeom prst="rect"/>
          <a:solidFill>
            <a:srgbClr val="065A82">
              <a:alpha val="4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48605" name="Text 1"/>
          <p:cNvSpPr/>
          <p:nvPr/>
        </p:nvSpPr>
        <p:spPr>
          <a:xfrm>
            <a:off x="457200" y="320040"/>
            <a:ext cx="438912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</a:t>
            </a: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</a:t>
            </a: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</a:t>
            </a: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</a:t>
            </a: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</a:t>
            </a:r>
            <a:r>
              <a:rPr altLang="en-US" b="1" dirty="0" sz="2600" lang="sk-SK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á</a:t>
            </a:r>
            <a:r>
              <a:rPr altLang="en-US"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 </a:t>
            </a: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sústava</a:t>
            </a:r>
            <a:endParaRPr dirty="0" sz="2600" lang="en-US"/>
          </a:p>
        </p:txBody>
      </p:sp>
      <p:sp>
        <p:nvSpPr>
          <p:cNvPr id="1048606" name="Text 2"/>
          <p:cNvSpPr/>
          <p:nvPr/>
        </p:nvSpPr>
        <p:spPr>
          <a:xfrm>
            <a:off x="457200" y="1005840"/>
            <a:ext cx="4297680" cy="3863340"/>
          </a:xfrm>
          <a:prstGeom prst="rect"/>
          <a:noFill/>
        </p:spPr>
        <p:txBody>
          <a:bodyPr anchor="t" bIns="0" lIns="0" rIns="0" rtlCol="0" tIns="254000" wrap="square"/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</a:t>
            </a: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400" lang="sk-SK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ž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ica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huje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400" lang="sk-SK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ľké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množstvo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cov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dirty="0" sz="1400" lang="sk-SK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dirty="0" sz="1400" lang="sk-SK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é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400" lang="sk-SK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č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,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oré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400" lang="sk-SK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ň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</a:t>
            </a:r>
            <a:r>
              <a:rPr altLang="en-US" dirty="0" sz="1400" lang="sk-SK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ú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endParaRPr dirty="0" sz="1400"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7"/>
        </a:solidFill>
        <a:effectLst/>
      </p:bgPr>
    </p:bg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7" name="Image 0" descr="https://upload.wikimedia.org/wikipedia/commons/thumb/e/e8/Esox_lucius_1.jpg/1280px-Esox_lucius_1.jpg"/>
          <p:cNvPicPr>
            <a:picLocks noChangeAspect="1"/>
          </p:cNvPicPr>
          <p:nvPr/>
        </p:nvPicPr>
        <p:blipFill>
          <a:blip xmlns:r="http://schemas.openxmlformats.org/officeDocument/2006/relationships" r:embed="rId1">
            <a:alphaModFix amt="25000"/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/>
        </p:spPr>
      </p:pic>
      <p:sp>
        <p:nvSpPr>
          <p:cNvPr id="1048616" name="Text 0"/>
          <p:cNvSpPr/>
          <p:nvPr/>
        </p:nvSpPr>
        <p:spPr>
          <a:xfrm>
            <a:off x="457200" y="274320"/>
            <a:ext cx="822960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800" lang="en-US">
                <a:solidFill>
                  <a:srgbClr val="065A8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Pohybová sústava</a:t>
            </a:r>
            <a:endParaRPr dirty="0" sz="2800" lang="en-US"/>
          </a:p>
        </p:txBody>
      </p:sp>
      <p:sp>
        <p:nvSpPr>
          <p:cNvPr id="1048617" name="Shape 1"/>
          <p:cNvSpPr/>
          <p:nvPr/>
        </p:nvSpPr>
        <p:spPr>
          <a:xfrm>
            <a:off x="457200" y="1280160"/>
            <a:ext cx="3931920" cy="1371600"/>
          </a:xfrm>
          <a:prstGeom prst="rect"/>
          <a:solidFill>
            <a:srgbClr val="065A82">
              <a:alpha val="9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48618" name="Text 2"/>
          <p:cNvSpPr/>
          <p:nvPr/>
        </p:nvSpPr>
        <p:spPr>
          <a:xfrm>
            <a:off x="594360" y="1371600"/>
            <a:ext cx="3657600" cy="36576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b="1" dirty="0" sz="1500" lang="sk-SK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č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vené 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</a:t>
            </a:r>
            <a:endParaRPr dirty="0" sz="1500" lang="en-US"/>
          </a:p>
        </p:txBody>
      </p:sp>
      <p:sp>
        <p:nvSpPr>
          <p:cNvPr id="1048619" name="Text 3"/>
          <p:cNvSpPr/>
          <p:nvPr/>
        </p:nvSpPr>
        <p:spPr>
          <a:xfrm>
            <a:off x="594360" y="1783080"/>
            <a:ext cx="3657600" cy="64008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300" lang="en-US">
                <a:solidFill>
                  <a:srgbClr val="FFFFFF"/>
                </a:solidFill>
              </a:rPr>
              <a:t>B</a:t>
            </a:r>
            <a:r>
              <a:rPr dirty="0" sz="1300" lang="en-US">
                <a:solidFill>
                  <a:srgbClr val="FFFFFF"/>
                </a:solidFill>
              </a:rPr>
              <a:t>i</a:t>
            </a:r>
            <a:r>
              <a:rPr dirty="0" sz="1300" lang="en-US">
                <a:solidFill>
                  <a:srgbClr val="FFFFFF"/>
                </a:solidFill>
              </a:rPr>
              <a:t>e</a:t>
            </a:r>
            <a:r>
              <a:rPr dirty="0" sz="1300" lang="en-US">
                <a:solidFill>
                  <a:srgbClr val="FFFFFF"/>
                </a:solidFill>
              </a:rPr>
              <a:t>l</a:t>
            </a:r>
            <a:r>
              <a:rPr dirty="0" sz="1300" lang="en-US">
                <a:solidFill>
                  <a:srgbClr val="FFFFFF"/>
                </a:solidFill>
              </a:rPr>
              <a:t>e</a:t>
            </a:r>
            <a:r>
              <a:rPr dirty="0" sz="1300" lang="en-US">
                <a:solidFill>
                  <a:srgbClr val="FFFFFF"/>
                </a:solidFill>
              </a:rPr>
              <a:t> </a:t>
            </a:r>
            <a:r>
              <a:rPr dirty="0" sz="1300" lang="en-US">
                <a:solidFill>
                  <a:srgbClr val="FFFFFF"/>
                </a:solidFill>
              </a:rPr>
              <a:t>u</a:t>
            </a:r>
            <a:r>
              <a:rPr dirty="0" sz="1300" lang="en-US">
                <a:solidFill>
                  <a:srgbClr val="FFFFFF"/>
                </a:solidFill>
              </a:rPr>
              <a:t>m</a:t>
            </a:r>
            <a:r>
              <a:rPr dirty="0" sz="1300" lang="en-US">
                <a:solidFill>
                  <a:srgbClr val="FFFFFF"/>
                </a:solidFill>
              </a:rPr>
              <a:t>o</a:t>
            </a:r>
            <a:r>
              <a:rPr altLang="en-US" dirty="0" sz="1300" lang="sk-SK">
                <a:solidFill>
                  <a:srgbClr val="FFFFFF"/>
                </a:solidFill>
              </a:rPr>
              <a:t>ž</a:t>
            </a:r>
            <a:r>
              <a:rPr altLang="en-US" dirty="0" sz="1300" lang="sk-SK">
                <a:solidFill>
                  <a:srgbClr val="FFFFFF"/>
                </a:solidFill>
              </a:rPr>
              <a:t>ň</a:t>
            </a:r>
            <a:r>
              <a:rPr altLang="en-US" dirty="0" sz="1300" lang="en-US">
                <a:solidFill>
                  <a:srgbClr val="FFFFFF"/>
                </a:solidFill>
              </a:rPr>
              <a:t>uje </a:t>
            </a:r>
            <a:r>
              <a:rPr altLang="en-US" dirty="0" sz="1300" lang="en-US">
                <a:solidFill>
                  <a:srgbClr val="FFFFFF"/>
                </a:solidFill>
              </a:rPr>
              <a:t>p</a:t>
            </a:r>
            <a:r>
              <a:rPr altLang="en-US" dirty="0" sz="1300" lang="en-US">
                <a:solidFill>
                  <a:srgbClr val="FFFFFF"/>
                </a:solidFill>
              </a:rPr>
              <a:t>r</a:t>
            </a:r>
            <a:r>
              <a:rPr altLang="en-US" dirty="0" sz="1300" lang="en-US">
                <a:solidFill>
                  <a:srgbClr val="FFFFFF"/>
                </a:solidFill>
              </a:rPr>
              <a:t>u</a:t>
            </a:r>
            <a:r>
              <a:rPr altLang="en-US" dirty="0" sz="1300" lang="en-US">
                <a:solidFill>
                  <a:srgbClr val="FFFFFF"/>
                </a:solidFill>
              </a:rPr>
              <a:t>d</a:t>
            </a:r>
            <a:r>
              <a:rPr altLang="en-US" dirty="0" sz="1300" lang="en-US">
                <a:solidFill>
                  <a:srgbClr val="FFFFFF"/>
                </a:solidFill>
              </a:rPr>
              <a:t>k</a:t>
            </a:r>
            <a:r>
              <a:rPr altLang="en-US" dirty="0" sz="1300" lang="sk-SK">
                <a:solidFill>
                  <a:srgbClr val="FFFFFF"/>
                </a:solidFill>
              </a:rPr>
              <a:t>é</a:t>
            </a:r>
            <a:r>
              <a:rPr altLang="en-US" dirty="0" sz="1300" lang="en-US">
                <a:solidFill>
                  <a:srgbClr val="FFFFFF"/>
                </a:solidFill>
              </a:rPr>
              <a:t> </a:t>
            </a:r>
            <a:r>
              <a:rPr altLang="en-US" dirty="0" sz="1300" lang="en-US">
                <a:solidFill>
                  <a:srgbClr val="FFFFFF"/>
                </a:solidFill>
              </a:rPr>
              <a:t>a</a:t>
            </a:r>
            <a:r>
              <a:rPr altLang="en-US" dirty="0" sz="1300" lang="en-US">
                <a:solidFill>
                  <a:srgbClr val="FFFFFF"/>
                </a:solidFill>
              </a:rPr>
              <a:t> </a:t>
            </a:r>
            <a:r>
              <a:rPr altLang="en-US" dirty="0" sz="1300" lang="en-US">
                <a:solidFill>
                  <a:srgbClr val="FFFFFF"/>
                </a:solidFill>
              </a:rPr>
              <a:t>r</a:t>
            </a:r>
            <a:r>
              <a:rPr altLang="en-US" dirty="0" sz="1300" lang="sk-SK">
                <a:solidFill>
                  <a:srgbClr val="FFFFFF"/>
                </a:solidFill>
              </a:rPr>
              <a:t>ý</a:t>
            </a:r>
            <a:r>
              <a:rPr altLang="en-US" dirty="0" sz="1300" lang="en-US">
                <a:solidFill>
                  <a:srgbClr val="FFFFFF"/>
                </a:solidFill>
              </a:rPr>
              <a:t>c</a:t>
            </a:r>
            <a:r>
              <a:rPr altLang="en-US" dirty="0" sz="1300" lang="en-US">
                <a:solidFill>
                  <a:srgbClr val="FFFFFF"/>
                </a:solidFill>
              </a:rPr>
              <a:t>h</a:t>
            </a:r>
            <a:r>
              <a:rPr altLang="en-US" dirty="0" sz="1300" lang="en-US">
                <a:solidFill>
                  <a:srgbClr val="FFFFFF"/>
                </a:solidFill>
              </a:rPr>
              <a:t>l</a:t>
            </a:r>
            <a:r>
              <a:rPr altLang="en-US" dirty="0" sz="1300" lang="en-US">
                <a:solidFill>
                  <a:srgbClr val="FFFFFF"/>
                </a:solidFill>
              </a:rPr>
              <a:t>e</a:t>
            </a:r>
            <a:r>
              <a:rPr altLang="en-US" dirty="0" sz="1300" lang="en-US">
                <a:solidFill>
                  <a:srgbClr val="FFFFFF"/>
                </a:solidFill>
              </a:rPr>
              <a:t> </a:t>
            </a:r>
            <a:r>
              <a:rPr altLang="en-US" dirty="0" sz="1300" lang="en-US">
                <a:solidFill>
                  <a:srgbClr val="FFFFFF"/>
                </a:solidFill>
              </a:rPr>
              <a:t>t</a:t>
            </a:r>
            <a:r>
              <a:rPr altLang="en-US" dirty="0" sz="1300" lang="en-US">
                <a:solidFill>
                  <a:srgbClr val="FFFFFF"/>
                </a:solidFill>
              </a:rPr>
              <a:t>r</a:t>
            </a:r>
            <a:r>
              <a:rPr altLang="en-US" dirty="0" sz="1300" lang="en-US">
                <a:solidFill>
                  <a:srgbClr val="FFFFFF"/>
                </a:solidFill>
              </a:rPr>
              <a:t>h</a:t>
            </a:r>
            <a:r>
              <a:rPr altLang="en-US" dirty="0" sz="1300" lang="en-US">
                <a:solidFill>
                  <a:srgbClr val="FFFFFF"/>
                </a:solidFill>
              </a:rPr>
              <a:t>n</a:t>
            </a:r>
            <a:r>
              <a:rPr altLang="en-US" dirty="0" sz="1300" lang="en-US">
                <a:solidFill>
                  <a:srgbClr val="FFFFFF"/>
                </a:solidFill>
              </a:rPr>
              <a:t>u</a:t>
            </a:r>
            <a:r>
              <a:rPr altLang="en-US" dirty="0" sz="1300" lang="en-US">
                <a:solidFill>
                  <a:srgbClr val="FFFFFF"/>
                </a:solidFill>
              </a:rPr>
              <a:t>t</a:t>
            </a:r>
            <a:r>
              <a:rPr altLang="en-US" dirty="0" sz="1300" lang="en-US">
                <a:solidFill>
                  <a:srgbClr val="FFFFFF"/>
                </a:solidFill>
              </a:rPr>
              <a:t>i</a:t>
            </a:r>
            <a:r>
              <a:rPr altLang="en-US" dirty="0" sz="1300" lang="en-US">
                <a:solidFill>
                  <a:srgbClr val="FFFFFF"/>
                </a:solidFill>
              </a:rPr>
              <a:t>e</a:t>
            </a:r>
            <a:r>
              <a:rPr altLang="en-US" dirty="0" sz="1300" lang="en-US">
                <a:solidFill>
                  <a:srgbClr val="FFFFFF"/>
                </a:solidFill>
              </a:rPr>
              <a:t>.</a:t>
            </a:r>
            <a:r>
              <a:rPr altLang="en-US" dirty="0" sz="1300" lang="en-US">
                <a:solidFill>
                  <a:srgbClr val="FFFFFF"/>
                </a:solidFill>
              </a:rPr>
              <a:t> </a:t>
            </a:r>
            <a:r>
              <a:rPr altLang="en-US" dirty="0" sz="1300" lang="sk-SK">
                <a:solidFill>
                  <a:srgbClr val="FFFFFF"/>
                </a:solidFill>
              </a:rPr>
              <a:t>Č</a:t>
            </a:r>
            <a:r>
              <a:rPr altLang="en-US" dirty="0" sz="1300" lang="en-US">
                <a:solidFill>
                  <a:srgbClr val="FFFFFF"/>
                </a:solidFill>
              </a:rPr>
              <a:t>e</a:t>
            </a:r>
            <a:r>
              <a:rPr altLang="en-US" dirty="0" sz="1300" lang="en-US">
                <a:solidFill>
                  <a:srgbClr val="FFFFFF"/>
                </a:solidFill>
              </a:rPr>
              <a:t>r</a:t>
            </a:r>
            <a:r>
              <a:rPr altLang="en-US" dirty="0" sz="1300" lang="en-US">
                <a:solidFill>
                  <a:srgbClr val="FFFFFF"/>
                </a:solidFill>
              </a:rPr>
              <a:t>v</a:t>
            </a:r>
            <a:r>
              <a:rPr altLang="en-US" dirty="0" sz="1300" lang="en-US">
                <a:solidFill>
                  <a:srgbClr val="FFFFFF"/>
                </a:solidFill>
              </a:rPr>
              <a:t>e</a:t>
            </a:r>
            <a:r>
              <a:rPr altLang="en-US" dirty="0" sz="1300" lang="en-US">
                <a:solidFill>
                  <a:srgbClr val="FFFFFF"/>
                </a:solidFill>
              </a:rPr>
              <a:t>né </a:t>
            </a:r>
            <a:r>
              <a:rPr altLang="en-US" dirty="0" sz="1300" lang="en-US">
                <a:solidFill>
                  <a:srgbClr val="FFFFFF"/>
                </a:solidFill>
              </a:rPr>
              <a:t>s</a:t>
            </a:r>
            <a:r>
              <a:rPr altLang="en-US" dirty="0" sz="1300" lang="en-US">
                <a:solidFill>
                  <a:srgbClr val="FFFFFF"/>
                </a:solidFill>
              </a:rPr>
              <a:t>l</a:t>
            </a:r>
            <a:r>
              <a:rPr altLang="en-US" dirty="0" sz="1300" lang="sk-SK">
                <a:solidFill>
                  <a:srgbClr val="FFFFFF"/>
                </a:solidFill>
              </a:rPr>
              <a:t>ú</a:t>
            </a:r>
            <a:r>
              <a:rPr altLang="en-US" dirty="0" sz="1300" lang="sk-SK">
                <a:solidFill>
                  <a:srgbClr val="FFFFFF"/>
                </a:solidFill>
              </a:rPr>
              <a:t>ži </a:t>
            </a:r>
            <a:r>
              <a:rPr altLang="en-US" dirty="0" sz="1300" lang="en-US">
                <a:solidFill>
                  <a:srgbClr val="FFFFFF"/>
                </a:solidFill>
              </a:rPr>
              <a:t>na </a:t>
            </a:r>
            <a:r>
              <a:rPr altLang="en-US" dirty="0" sz="1300" lang="en-US">
                <a:solidFill>
                  <a:srgbClr val="FFFFFF"/>
                </a:solidFill>
              </a:rPr>
              <a:t>v</a:t>
            </a:r>
            <a:r>
              <a:rPr altLang="en-US" dirty="0" sz="1300" lang="en-US">
                <a:solidFill>
                  <a:srgbClr val="FFFFFF"/>
                </a:solidFill>
              </a:rPr>
              <a:t>y</a:t>
            </a:r>
            <a:r>
              <a:rPr altLang="en-US" dirty="0" sz="1300" lang="en-US">
                <a:solidFill>
                  <a:srgbClr val="FFFFFF"/>
                </a:solidFill>
              </a:rPr>
              <a:t>t</a:t>
            </a:r>
            <a:r>
              <a:rPr altLang="en-US" dirty="0" sz="1300" lang="en-US">
                <a:solidFill>
                  <a:srgbClr val="FFFFFF"/>
                </a:solidFill>
              </a:rPr>
              <a:t>r</a:t>
            </a:r>
            <a:r>
              <a:rPr altLang="en-US" dirty="0" sz="1300" lang="en-US">
                <a:solidFill>
                  <a:srgbClr val="FFFFFF"/>
                </a:solidFill>
              </a:rPr>
              <a:t>v</a:t>
            </a:r>
            <a:r>
              <a:rPr altLang="en-US" dirty="0" sz="1300" lang="en-US">
                <a:solidFill>
                  <a:srgbClr val="FFFFFF"/>
                </a:solidFill>
              </a:rPr>
              <a:t>alos</a:t>
            </a:r>
            <a:r>
              <a:rPr altLang="en-US" dirty="0" sz="1300" lang="en-US">
                <a:solidFill>
                  <a:srgbClr val="FFFFFF"/>
                </a:solidFill>
              </a:rPr>
              <a:t>t</a:t>
            </a:r>
            <a:r>
              <a:rPr altLang="en-US" dirty="0" sz="1300" lang="en-US">
                <a:solidFill>
                  <a:srgbClr val="FFFFFF"/>
                </a:solidFill>
              </a:rPr>
              <a:t>n</a:t>
            </a:r>
            <a:r>
              <a:rPr altLang="en-US" dirty="0" sz="1300" lang="sk-SK">
                <a:solidFill>
                  <a:srgbClr val="FFFFFF"/>
                </a:solidFill>
              </a:rPr>
              <a:t>é</a:t>
            </a:r>
            <a:r>
              <a:rPr altLang="en-US" dirty="0" sz="1300" lang="en-US">
                <a:solidFill>
                  <a:srgbClr val="FFFFFF"/>
                </a:solidFill>
              </a:rPr>
              <a:t> </a:t>
            </a:r>
            <a:r>
              <a:rPr altLang="en-US" dirty="0" sz="1300" lang="en-US">
                <a:solidFill>
                  <a:srgbClr val="FFFFFF"/>
                </a:solidFill>
              </a:rPr>
              <a:t>p</a:t>
            </a:r>
            <a:r>
              <a:rPr altLang="en-US" dirty="0" sz="1300" lang="en-US">
                <a:solidFill>
                  <a:srgbClr val="FFFFFF"/>
                </a:solidFill>
              </a:rPr>
              <a:t>l</a:t>
            </a:r>
            <a:r>
              <a:rPr altLang="en-US" dirty="0" sz="1300" lang="sk-SK">
                <a:solidFill>
                  <a:srgbClr val="FFFFFF"/>
                </a:solidFill>
              </a:rPr>
              <a:t>á</a:t>
            </a:r>
            <a:r>
              <a:rPr altLang="en-US" dirty="0" sz="1300" lang="en-US">
                <a:solidFill>
                  <a:srgbClr val="FFFFFF"/>
                </a:solidFill>
              </a:rPr>
              <a:t>v</a:t>
            </a:r>
            <a:r>
              <a:rPr altLang="en-US" dirty="0" sz="1300" lang="en-US">
                <a:solidFill>
                  <a:srgbClr val="FFFFFF"/>
                </a:solidFill>
              </a:rPr>
              <a:t>anie</a:t>
            </a:r>
            <a:r>
              <a:rPr altLang="en-US" dirty="0" sz="1300" lang="en-US">
                <a:solidFill>
                  <a:srgbClr val="FFFFFF"/>
                </a:solidFill>
              </a:rPr>
              <a:t>.</a:t>
            </a:r>
            <a:endParaRPr dirty="0" sz="1300" lang="en-US">
              <a:solidFill>
                <a:srgbClr val="FFFFFF"/>
              </a:solidFill>
            </a:endParaRPr>
          </a:p>
        </p:txBody>
      </p:sp>
      <p:sp>
        <p:nvSpPr>
          <p:cNvPr id="1048620" name="Shape 4"/>
          <p:cNvSpPr/>
          <p:nvPr/>
        </p:nvSpPr>
        <p:spPr>
          <a:xfrm>
            <a:off x="457200" y="2926080"/>
            <a:ext cx="3931920" cy="1371600"/>
          </a:xfrm>
          <a:prstGeom prst="rect"/>
          <a:solidFill>
            <a:srgbClr val="065A82">
              <a:alpha val="9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48621" name="Text 5"/>
          <p:cNvSpPr/>
          <p:nvPr/>
        </p:nvSpPr>
        <p:spPr>
          <a:xfrm>
            <a:off x="594360" y="3017520"/>
            <a:ext cx="3657600" cy="36576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</a:t>
            </a:r>
            <a:r>
              <a:rPr altLang="en-US" b="1" dirty="0" sz="1500" lang="sk-SK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b="1" dirty="0" sz="1500" lang="sk-SK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é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</a:t>
            </a:r>
            <a:endParaRPr dirty="0" sz="1500" lang="en-US"/>
          </a:p>
        </p:txBody>
      </p:sp>
      <p:sp>
        <p:nvSpPr>
          <p:cNvPr id="1048622" name="Text 6"/>
          <p:cNvSpPr/>
          <p:nvPr/>
        </p:nvSpPr>
        <p:spPr>
          <a:xfrm>
            <a:off x="594360" y="3429000"/>
            <a:ext cx="3657600" cy="64008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ú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ž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ž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é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é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vanie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ý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linami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</a:t>
            </a:r>
            <a:endParaRPr dirty="0" sz="1300" lang="en-US"/>
          </a:p>
        </p:txBody>
      </p:sp>
      <p:sp>
        <p:nvSpPr>
          <p:cNvPr id="1048623" name="Shape 7"/>
          <p:cNvSpPr/>
          <p:nvPr/>
        </p:nvSpPr>
        <p:spPr>
          <a:xfrm>
            <a:off x="4846320" y="1280160"/>
            <a:ext cx="3931920" cy="1371600"/>
          </a:xfrm>
          <a:prstGeom prst="rect"/>
          <a:solidFill>
            <a:srgbClr val="065A82">
              <a:alpha val="9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48624" name="Text 8"/>
          <p:cNvSpPr/>
          <p:nvPr/>
        </p:nvSpPr>
        <p:spPr>
          <a:xfrm>
            <a:off x="4983480" y="1371600"/>
            <a:ext cx="3657600" cy="36576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b="1" dirty="0" sz="1500" lang="sk-SK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b="1" dirty="0" sz="1600" lang="sk-SK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b="1" dirty="0" sz="16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endParaRPr dirty="0" sz="1500" lang="en-US"/>
          </a:p>
        </p:txBody>
      </p:sp>
      <p:sp>
        <p:nvSpPr>
          <p:cNvPr id="1048625" name="Text 9"/>
          <p:cNvSpPr/>
          <p:nvPr/>
        </p:nvSpPr>
        <p:spPr>
          <a:xfrm>
            <a:off x="4983480" y="1783080"/>
            <a:ext cx="3657600" cy="64008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ú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átor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č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tnej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osi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</a:t>
            </a:r>
            <a:endParaRPr dirty="0" sz="1300" lang="en-US"/>
          </a:p>
        </p:txBody>
      </p:sp>
      <p:sp>
        <p:nvSpPr>
          <p:cNvPr id="1048626" name="Shape 10"/>
          <p:cNvSpPr/>
          <p:nvPr/>
        </p:nvSpPr>
        <p:spPr>
          <a:xfrm>
            <a:off x="4846320" y="2926080"/>
            <a:ext cx="3931920" cy="1371600"/>
          </a:xfrm>
          <a:prstGeom prst="rect"/>
          <a:solidFill>
            <a:srgbClr val="065A82">
              <a:alpha val="9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48627" name="Text 11"/>
          <p:cNvSpPr/>
          <p:nvPr/>
        </p:nvSpPr>
        <p:spPr>
          <a:xfrm>
            <a:off x="4983480" y="3017520"/>
            <a:ext cx="3657600" cy="36576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ov</a:t>
            </a:r>
            <a:r>
              <a:rPr altLang="en-US" b="1" dirty="0" sz="1500" lang="sk-SK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ý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</a:t>
            </a:r>
            <a:r>
              <a:rPr altLang="en-US" b="1" dirty="0" sz="1500" lang="sk-SK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ú</a:t>
            </a:r>
            <a:r>
              <a:rPr altLang="en-US" b="1" dirty="0" sz="1500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dirty="0" sz="1500" lang="en-US"/>
          </a:p>
        </p:txBody>
      </p:sp>
      <p:sp>
        <p:nvSpPr>
          <p:cNvPr id="1048628" name="Text 12"/>
          <p:cNvSpPr/>
          <p:nvPr/>
        </p:nvSpPr>
        <p:spPr>
          <a:xfrm>
            <a:off x="4983480" y="3429000"/>
            <a:ext cx="3657600" cy="64008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í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ň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,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í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š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ž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ovanej 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</a:t>
            </a:r>
            <a:r>
              <a:rPr altLang="en-US" dirty="0" sz="1300" lang="sk-SK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ĺ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</a:t>
            </a:r>
            <a:r>
              <a:rPr altLang="en-US" dirty="0" sz="13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</a:t>
            </a:r>
            <a:endParaRPr dirty="0" sz="1300"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Image 0" descr="https://upload.wikimedia.org/wikipedia/commons/thumb/2/21/Esox_lucius_2008.jpg/1280px-Esox_lucius_2008.jp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rcRect/>
          <a:stretch>
            <a:fillRect/>
          </a:stretch>
        </p:blipFill>
        <p:spPr>
          <a:xfrm>
            <a:off x="5029200" y="0"/>
            <a:ext cx="4114800" cy="5143500"/>
          </a:xfrm>
          <a:prstGeom prst="rect"/>
        </p:spPr>
      </p:pic>
      <p:sp>
        <p:nvSpPr>
          <p:cNvPr id="1048687" name="Shape 0"/>
          <p:cNvSpPr/>
          <p:nvPr/>
        </p:nvSpPr>
        <p:spPr>
          <a:xfrm>
            <a:off x="5029200" y="0"/>
            <a:ext cx="4114800" cy="5143500"/>
          </a:xfrm>
          <a:prstGeom prst="rect"/>
          <a:solidFill>
            <a:srgbClr val="065A82">
              <a:alpha val="4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48688" name="Text 1"/>
          <p:cNvSpPr/>
          <p:nvPr/>
        </p:nvSpPr>
        <p:spPr>
          <a:xfrm>
            <a:off x="457200" y="320040"/>
            <a:ext cx="438912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Rozmnožovacia sústava</a:t>
            </a:r>
            <a:endParaRPr dirty="0" sz="2600" lang="en-US"/>
          </a:p>
        </p:txBody>
      </p:sp>
      <p:sp>
        <p:nvSpPr>
          <p:cNvPr id="1048689" name="Text 2"/>
          <p:cNvSpPr/>
          <p:nvPr/>
        </p:nvSpPr>
        <p:spPr>
          <a:xfrm>
            <a:off x="457200" y="1005840"/>
            <a:ext cx="4297680" cy="3863340"/>
          </a:xfrm>
          <a:prstGeom prst="rect"/>
          <a:noFill/>
        </p:spPr>
        <p:txBody>
          <a:bodyPr anchor="t" bIns="0" lIns="0" rIns="0" rtlCol="0" tIns="254000" wrap="square"/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rozmnožuje sa na jar</a:t>
            </a:r>
            <a:endParaRPr dirty="0" sz="1400" lang="en-US">
              <a:solidFill>
                <a:schemeClr val="bg1"/>
              </a:solidFill>
            </a:endParaRPr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samica kladie ikry do vody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samec ich oplodní mimo tela samice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mladé šťuky sa liahnu z ikier</a:t>
            </a:r>
            <a:endParaRPr dirty="0" sz="1400"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5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5" name="Image 0" descr="https://upload.wikimedia.org/wikipedia/commons/thumb/4/4e/Esox_lucius.jpg/1280px-Esox_lucius.jp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rcRect/>
          <a:stretch>
            <a:fillRect/>
          </a:stretch>
        </p:blipFill>
        <p:spPr>
          <a:xfrm>
            <a:off x="5029200" y="0"/>
            <a:ext cx="4114800" cy="5143500"/>
          </a:xfrm>
          <a:prstGeom prst="rect"/>
        </p:spPr>
      </p:pic>
      <p:sp>
        <p:nvSpPr>
          <p:cNvPr id="1048693" name="Shape 0"/>
          <p:cNvSpPr/>
          <p:nvPr/>
        </p:nvSpPr>
        <p:spPr>
          <a:xfrm>
            <a:off x="5029200" y="0"/>
            <a:ext cx="4114800" cy="5143500"/>
          </a:xfrm>
          <a:prstGeom prst="rect"/>
          <a:solidFill>
            <a:srgbClr val="065A82">
              <a:alpha val="4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48694" name="Text 1"/>
          <p:cNvSpPr/>
          <p:nvPr/>
        </p:nvSpPr>
        <p:spPr>
          <a:xfrm>
            <a:off x="457200" y="320040"/>
            <a:ext cx="4389120" cy="548640"/>
          </a:xfrm>
          <a:prstGeom prst="rect"/>
          <a:noFill/>
        </p:spPr>
        <p:txBody>
          <a:bodyPr anchor="ctr" bIns="0" lIns="0" rIns="0" rtlCol="0" tIns="0" wrap="square"/>
          <a:p>
            <a:pPr indent="0" marL="0">
              <a:buNone/>
            </a:pPr>
            <a:r>
              <a:rPr b="1" dirty="0" sz="26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Krycia sústava</a:t>
            </a:r>
            <a:endParaRPr dirty="0" sz="2600" lang="en-US"/>
          </a:p>
        </p:txBody>
      </p:sp>
      <p:sp>
        <p:nvSpPr>
          <p:cNvPr id="1048695" name="Text 2"/>
          <p:cNvSpPr/>
          <p:nvPr/>
        </p:nvSpPr>
        <p:spPr>
          <a:xfrm>
            <a:off x="457200" y="1005840"/>
            <a:ext cx="4297680" cy="3863340"/>
          </a:xfrm>
          <a:prstGeom prst="rect"/>
          <a:noFill/>
        </p:spPr>
        <p:txBody>
          <a:bodyPr anchor="t" bIns="0" lIns="0" rIns="0" rtlCol="0" tIns="254000" wrap="square"/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telo pokrýva koža a šupiny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povrch tela je slizký kvôli ochrannému slizy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sliz chráni rybu pred chorobami</a:t>
            </a:r>
            <a:endParaRPr dirty="0" sz="1400" lang="en-US"/>
          </a:p>
          <a:p>
            <a:pPr indent="-342900" marL="342900">
              <a:spcAft>
                <a:spcPts val="600"/>
              </a:spcAft>
              <a:buSzPct val="100000"/>
              <a:buChar char="•"/>
            </a:pPr>
            <a:r>
              <a:rPr dirty="0" sz="1400" lang="en-US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znižuje trenie pri pohybe vo vode</a:t>
            </a:r>
            <a:endParaRPr dirty="0" sz="1400"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A82"/>
        </a:solidFill>
        <a:effectLst/>
      </p:bgPr>
    </p:bg>
    <p:spTree>
      <p:nvGrpSpPr>
        <p:cNvPr id="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6" name="Image 0" descr="https://upload.wikimedia.org/wikipedia/commons/thumb/e/e8/Esox_lucius_1.jpg/1280px-Esox_lucius_1.jpg"/>
          <p:cNvPicPr>
            <a:picLocks noChangeAspect="1"/>
          </p:cNvPicPr>
          <p:nvPr/>
        </p:nvPicPr>
        <p:blipFill>
          <a:blip xmlns:r="http://schemas.openxmlformats.org/officeDocument/2006/relationships" r:embed="rId1">
            <a:alphaModFix amt="60000"/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/>
        </p:spPr>
      </p:pic>
      <p:sp>
        <p:nvSpPr>
          <p:cNvPr id="1048699" name="Shape 0"/>
          <p:cNvSpPr/>
          <p:nvPr/>
        </p:nvSpPr>
        <p:spPr>
          <a:xfrm>
            <a:off x="0" y="0"/>
            <a:ext cx="9144000" cy="5143500"/>
          </a:xfrm>
          <a:prstGeom prst="rect"/>
          <a:solidFill>
            <a:srgbClr val="065A82">
              <a:alpha val="7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48700" name="Text 1"/>
          <p:cNvSpPr/>
          <p:nvPr/>
        </p:nvSpPr>
        <p:spPr>
          <a:xfrm>
            <a:off x="914400" y="1463040"/>
            <a:ext cx="7315200" cy="1097280"/>
          </a:xfrm>
          <a:prstGeom prst="rect"/>
          <a:noFill/>
        </p:spPr>
        <p:txBody>
          <a:bodyPr anchor="ctr" bIns="0" lIns="0" rIns="0" rtlCol="0" tIns="0" wrap="square"/>
          <a:p>
            <a:pPr algn="ctr" indent="0" marL="0">
              <a:buNone/>
            </a:pPr>
            <a:r>
              <a:rPr b="1" dirty="0" sz="4200" lang="en-US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Ďakujem za pozornosť</a:t>
            </a:r>
            <a:endParaRPr dirty="0" sz="4200" lang="en-US"/>
          </a:p>
        </p:txBody>
      </p:sp>
      <p:sp>
        <p:nvSpPr>
          <p:cNvPr id="1048701" name="Text 2"/>
          <p:cNvSpPr/>
          <p:nvPr/>
        </p:nvSpPr>
        <p:spPr>
          <a:xfrm>
            <a:off x="914400" y="2743200"/>
            <a:ext cx="7315200" cy="457200"/>
          </a:xfrm>
          <a:prstGeom prst="rect"/>
          <a:noFill/>
        </p:spPr>
        <p:txBody>
          <a:bodyPr anchor="ctr" bIns="0" lIns="0" rIns="0" rtlCol="0" tIns="0" wrap="square"/>
          <a:p>
            <a:pPr algn="ctr" indent="0" marL="0">
              <a:buNone/>
            </a:pPr>
            <a:r>
              <a:rPr dirty="0" sz="1600" i="1" lang="en-US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Šťuka severná  •  Esox lucius</a:t>
            </a:r>
            <a:endParaRPr dirty="0" sz="1600" lang="en-US"/>
          </a:p>
        </p:txBody>
      </p:sp>
      <p:sp>
        <p:nvSpPr>
          <p:cNvPr id="1048702" name="Text 3"/>
          <p:cNvSpPr/>
          <p:nvPr/>
        </p:nvSpPr>
        <p:spPr>
          <a:xfrm>
            <a:off x="914400" y="4663440"/>
            <a:ext cx="7315200" cy="274320"/>
          </a:xfrm>
          <a:prstGeom prst="rect"/>
          <a:noFill/>
        </p:spPr>
        <p:txBody>
          <a:bodyPr anchor="ctr" bIns="0" lIns="0" rIns="0" rtlCol="0" tIns="0" wrap="square"/>
          <a:p>
            <a:pPr algn="ctr" indent="0" marL="0">
              <a:buNone/>
            </a:pPr>
            <a:r>
              <a:rPr dirty="0" sz="1000" lang="en-US">
                <a:solidFill>
                  <a:srgbClr val="B0D8E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Zdroje: Wikimedia Commons, Wikipedia</a:t>
            </a:r>
            <a:endParaRPr dirty="0" sz="1000"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algn="ctr" blurRad="57150" dir="5400000" dist="1905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algn="ctr" blurRad="57150" dir="5400000" dist="1905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WPS Presentation</Application>
  <ScaleCrop>0</ScaleCrop>
  <Company>PptxGenJS</Company>
  <LinksUpToDate>0</LinksUpToDate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Sladkovodné ryby – Šťuka severná</dc:title>
  <dc:creator>PptxGenJS</dc:creator>
  <cp:lastModifiedBy>Walter Scharbert</cp:lastModifiedBy>
  <dcterms:created xsi:type="dcterms:W3CDTF">2026-05-26T03:41:00Z</dcterms:created>
  <dcterms:modified xsi:type="dcterms:W3CDTF">2026-05-27T07:48:17Z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1033-12.1.0.26372</vt:lpwstr>
  </property>
  <property fmtid="{D5CDD505-2E9C-101B-9397-08002B2CF9AE}" pid="3" name="ICV">
    <vt:lpwstr>049A07B979364B808642BCBE1CA5707B_12</vt:lpwstr>
  </property>
</Properties>
</file>