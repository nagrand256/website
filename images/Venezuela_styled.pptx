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68580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5400" b="1" dirty="0">
                <a:solidFill>
                  <a:srgbClr val="FFFFFF"/>
                </a:solidFill>
                <a:latin typeface="Trebuchet MS" panose="020B0603020202020204"/>
              </a:rPr>
              <a:t>VENEZUELA</a:t>
            </a:r>
            <a:endParaRPr lang="sk-SK" sz="54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2" name="title_box"/>
          <p:cNvSpPr>
            <a:spLocks noGrp="1"/>
          </p:cNvSpPr>
          <p:nvPr/>
        </p:nvSpPr>
        <p:spPr>
          <a:xfrm>
            <a:off x="457200" y="17148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0" dirty="0">
                <a:solidFill>
                  <a:srgbClr val="FFF5D6"/>
                </a:solidFill>
                <a:latin typeface="Trebuchet MS" panose="020B0603020202020204"/>
              </a:rPr>
              <a:t>Juhoamerická republika</a:t>
            </a:r>
            <a:endParaRPr lang="sk-SK" sz="2000" b="0" dirty="0">
              <a:solidFill>
                <a:srgbClr val="FFF5D6"/>
              </a:solidFill>
              <a:latin typeface="Trebuchet MS" panose="020B0603020202020204"/>
            </a:endParaRPr>
          </a:p>
        </p:txBody>
      </p:sp>
      <p:sp>
        <p:nvSpPr>
          <p:cNvPr id="401" name="plain"/>
          <p:cNvSpPr>
            <a:spLocks noGrp="1"/>
          </p:cNvSpPr>
          <p:nvPr/>
        </p:nvSpPr>
        <p:spPr>
          <a:xfrm>
            <a:off x="457200" y="65148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400" i="1" dirty="0">
                <a:solidFill>
                  <a:srgbClr val="CCCCCC"/>
                </a:solidFill>
                <a:latin typeface="Calibri" panose="020F0502020204030204"/>
              </a:rPr>
              <a:t>Walter Scharbert</a:t>
            </a:r>
            <a:endParaRPr lang="sk-SK" sz="1400" i="1" dirty="0">
              <a:solidFill>
                <a:srgbClr val="CCCCC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Venezuelská bolívarovská republika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571200" y="800000"/>
            <a:ext cx="44577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Štát na severe Južnej Ameriky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Hlavné mesto: Caracas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Úradný jazyk: španielčina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Rozloha: cca 916 000 km²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Obyvateľstvo: ~31 miliónov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1A1A2E"/>
                </a:solidFill>
                <a:latin typeface="Calibri" panose="020F0502020204030204"/>
              </a:rPr>
              <a:t>Mena: bolívar soberano</a:t>
            </a:r>
            <a:endParaRPr lang="sk-SK" sz="18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en-US" altLang="sk-SK" sz="1800" dirty="0">
                <a:solidFill>
                  <a:srgbClr val="1A1A2E"/>
                </a:solidFill>
                <a:latin typeface="Calibri" panose="020F0502020204030204"/>
              </a:rPr>
              <a:t>Názov Venezuela=Malé Benátky</a:t>
            </a:r>
            <a:endParaRPr lang="en-US" altLang="sk-SK" sz="18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Venezuelská bolívarovská republika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Flag_of_Venezuela_(state)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341755"/>
            <a:ext cx="3124200" cy="2087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Poloha a základné údaje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Leží pri Karibskom mori a Atlantickom oceáne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Rozloha: približne 916 000 km²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Hlavné mesto: Caracas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503" name="accent"/>
          <p:cNvSpPr>
            <a:spLocks noGrp="1"/>
          </p:cNvSpPr>
          <p:nvPr/>
        </p:nvSpPr>
        <p:spPr>
          <a:xfrm>
            <a:off x="457200" y="2400000"/>
            <a:ext cx="4114800" cy="5715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2" name="title_box"/>
          <p:cNvSpPr>
            <a:spLocks noGrp="1"/>
          </p:cNvSpPr>
          <p:nvPr/>
        </p:nvSpPr>
        <p:spPr>
          <a:xfrm>
            <a:off x="457200" y="2514000"/>
            <a:ext cx="4114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800" b="1" dirty="0">
                <a:solidFill>
                  <a:srgbClr val="002F6C"/>
                </a:solidFill>
                <a:latin typeface="Trebuchet MS" panose="020B0603020202020204"/>
              </a:rPr>
              <a:t>Susedné štáty:</a:t>
            </a:r>
            <a:endParaRPr lang="sk-SK" sz="1800" b="1" dirty="0">
              <a:solidFill>
                <a:srgbClr val="002F6C"/>
              </a:solidFill>
              <a:latin typeface="Trebuchet MS" panose="020B0603020202020204"/>
            </a:endParaRPr>
          </a:p>
        </p:txBody>
      </p:sp>
      <p:sp>
        <p:nvSpPr>
          <p:cNvPr id="305" name="text_box"/>
          <p:cNvSpPr>
            <a:spLocks noGrp="1"/>
          </p:cNvSpPr>
          <p:nvPr/>
        </p:nvSpPr>
        <p:spPr>
          <a:xfrm>
            <a:off x="457200" y="285720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Kolumbia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Brazília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Guyana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Poloha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4" name="Picture 3" descr="venezuela na ma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685800"/>
            <a:ext cx="6172835" cy="6172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Povrch a príroda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5714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Na severe pohorie Andy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Najvyšší vrch: Pico Bolívar (5 007 m n. m.)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Stred krajiny tvorí Orinocká nížina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Na juhovýchode Guyanská vysočina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Typické sú stolové hory – </a:t>
            </a:r>
            <a:r>
              <a:rPr lang="en-US" altLang="sk-SK" sz="1700" dirty="0">
                <a:solidFill>
                  <a:srgbClr val="1A1A2E"/>
                </a:solidFill>
                <a:latin typeface="Calibri" panose="020F0502020204030204"/>
              </a:rPr>
              <a:t>T</a:t>
            </a: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epui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Geografia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Kukenan_Tepuy_at_Sun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5425" y="1271905"/>
            <a:ext cx="6496050" cy="4314825"/>
          </a:xfrm>
          <a:prstGeom prst="rect">
            <a:avLst/>
          </a:prstGeom>
        </p:spPr>
      </p:pic>
      <p:pic>
        <p:nvPicPr>
          <p:cNvPr id="3" name="Picture 2" descr="tepui-venezuela-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2828290"/>
            <a:ext cx="4566285" cy="3191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Rieky a vodopády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5714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Najvýznamnejšia rieka: Orinoko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Veľké množstvo prítokov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Najvyšší vodopád sveta: Salto Ángel (979 m)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Rieky sú dôležité pre dopravu aj energetiku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Salto Ángel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SaltoAngel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1055" y="686435"/>
            <a:ext cx="3820795" cy="5828665"/>
          </a:xfrm>
          <a:prstGeom prst="rect">
            <a:avLst/>
          </a:prstGeom>
        </p:spPr>
      </p:pic>
      <p:pic>
        <p:nvPicPr>
          <p:cNvPr id="3" name="Picture 2" descr="vodopadvenezuel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12390"/>
            <a:ext cx="5196205" cy="3902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Podnebie a rastlinstvo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5714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Tropické podnebie počas celého roka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Vysoké teploty a vlhkosť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Tropické dažďové pralesy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Savany v nížinách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Viac ako 100 chránených oblastí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Príroda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Amazon_rainfor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065" y="1693545"/>
            <a:ext cx="4637405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1A1A2E"/>
                </a:solidFill>
                <a:latin typeface="Trebuchet MS" panose="020B0603020202020204"/>
              </a:rPr>
              <a:t>Obyvateľstvo</a:t>
            </a:r>
            <a:endParaRPr lang="sk-SK" sz="2800" b="1" dirty="0">
              <a:solidFill>
                <a:srgbClr val="1A1A2E"/>
              </a:solidFill>
              <a:latin typeface="Trebuchet MS" panose="020B0603020202020204"/>
            </a:endParaRPr>
          </a:p>
        </p:txBody>
      </p:sp>
      <p:sp>
        <p:nvSpPr>
          <p:cNvPr id="502" name="accent"/>
          <p:cNvSpPr>
            <a:spLocks noGrp="1"/>
          </p:cNvSpPr>
          <p:nvPr/>
        </p:nvSpPr>
        <p:spPr>
          <a:xfrm>
            <a:off x="457200" y="800000"/>
            <a:ext cx="25140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" name="title_box"/>
          <p:cNvSpPr>
            <a:spLocks noGrp="1"/>
          </p:cNvSpPr>
          <p:nvPr/>
        </p:nvSpPr>
        <p:spPr>
          <a:xfrm>
            <a:off x="571200" y="914400"/>
            <a:ext cx="22854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3600" b="1" dirty="0">
                <a:solidFill>
                  <a:srgbClr val="FFFFFF"/>
                </a:solidFill>
                <a:latin typeface="Trebuchet MS" panose="020B0603020202020204"/>
              </a:rPr>
              <a:t>~31 mil.</a:t>
            </a:r>
            <a:endParaRPr lang="sk-SK" sz="36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1" name="plain"/>
          <p:cNvSpPr>
            <a:spLocks noGrp="1"/>
          </p:cNvSpPr>
          <p:nvPr/>
        </p:nvSpPr>
        <p:spPr>
          <a:xfrm>
            <a:off x="571200" y="1600200"/>
            <a:ext cx="2285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400" i="1" dirty="0">
                <a:solidFill>
                  <a:srgbClr val="FFF5D6"/>
                </a:solidFill>
                <a:latin typeface="Calibri" panose="020F0502020204030204"/>
              </a:rPr>
              <a:t>obyvateľov</a:t>
            </a:r>
            <a:endParaRPr lang="sk-SK" sz="14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503" name="accent"/>
          <p:cNvSpPr>
            <a:spLocks noGrp="1"/>
          </p:cNvSpPr>
          <p:nvPr/>
        </p:nvSpPr>
        <p:spPr>
          <a:xfrm>
            <a:off x="3200400" y="800000"/>
            <a:ext cx="2514000" cy="1828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/>
          <a:p/>
        </p:txBody>
      </p:sp>
      <p:sp>
        <p:nvSpPr>
          <p:cNvPr id="3" name="title_box"/>
          <p:cNvSpPr>
            <a:spLocks noGrp="1"/>
          </p:cNvSpPr>
          <p:nvPr/>
        </p:nvSpPr>
        <p:spPr>
          <a:xfrm>
            <a:off x="3314700" y="914400"/>
            <a:ext cx="22854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3600" b="1" dirty="0">
                <a:solidFill>
                  <a:srgbClr val="FFFFFF"/>
                </a:solidFill>
                <a:latin typeface="Trebuchet MS" panose="020B0603020202020204"/>
              </a:rPr>
              <a:t>~65 %</a:t>
            </a:r>
            <a:endParaRPr lang="sk-SK" sz="36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2" name="plain"/>
          <p:cNvSpPr>
            <a:spLocks noGrp="1"/>
          </p:cNvSpPr>
          <p:nvPr/>
        </p:nvSpPr>
        <p:spPr>
          <a:xfrm>
            <a:off x="3314700" y="1600200"/>
            <a:ext cx="2285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400" i="1" dirty="0">
                <a:solidFill>
                  <a:srgbClr val="FFF5D6"/>
                </a:solidFill>
                <a:latin typeface="Calibri" panose="020F0502020204030204"/>
              </a:rPr>
              <a:t>mestici</a:t>
            </a:r>
            <a:endParaRPr lang="sk-SK" sz="14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504" name="accent"/>
          <p:cNvSpPr>
            <a:spLocks noGrp="1"/>
          </p:cNvSpPr>
          <p:nvPr/>
        </p:nvSpPr>
        <p:spPr>
          <a:xfrm>
            <a:off x="5943600" y="800000"/>
            <a:ext cx="2742600" cy="18288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4" name="title_box"/>
          <p:cNvSpPr>
            <a:spLocks noGrp="1"/>
          </p:cNvSpPr>
          <p:nvPr/>
        </p:nvSpPr>
        <p:spPr>
          <a:xfrm>
            <a:off x="6057900" y="914400"/>
            <a:ext cx="2514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3600" b="1" dirty="0">
                <a:solidFill>
                  <a:srgbClr val="1A1A2E"/>
                </a:solidFill>
                <a:latin typeface="Trebuchet MS" panose="020B0603020202020204"/>
              </a:rPr>
              <a:t>96 %</a:t>
            </a:r>
            <a:endParaRPr lang="sk-SK" sz="3600" b="1" dirty="0">
              <a:solidFill>
                <a:srgbClr val="1A1A2E"/>
              </a:solidFill>
              <a:latin typeface="Trebuchet MS" panose="020B0603020202020204"/>
            </a:endParaRPr>
          </a:p>
        </p:txBody>
      </p:sp>
      <p:sp>
        <p:nvSpPr>
          <p:cNvPr id="403" name="plain"/>
          <p:cNvSpPr>
            <a:spLocks noGrp="1"/>
          </p:cNvSpPr>
          <p:nvPr/>
        </p:nvSpPr>
        <p:spPr>
          <a:xfrm>
            <a:off x="6057900" y="1600200"/>
            <a:ext cx="2514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400" i="1" dirty="0">
                <a:solidFill>
                  <a:srgbClr val="1A1A2E"/>
                </a:solidFill>
                <a:latin typeface="Calibri" panose="020F0502020204030204"/>
              </a:rPr>
              <a:t>rímskokatolíci</a:t>
            </a:r>
            <a:endParaRPr lang="sk-SK" sz="1400" i="1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28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600" dirty="0">
                <a:solidFill>
                  <a:srgbClr val="FFF5D6"/>
                </a:solidFill>
                <a:latin typeface="Calibri" panose="020F0502020204030204"/>
              </a:rPr>
              <a:t>Väčšinu tvoria mestici (miešanci)</a:t>
            </a:r>
            <a:endParaRPr lang="sk-SK" sz="1600" dirty="0">
              <a:solidFill>
                <a:srgbClr val="FFF5D6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600" dirty="0">
                <a:solidFill>
                  <a:srgbClr val="FFF5D6"/>
                </a:solidFill>
                <a:latin typeface="Calibri" panose="020F0502020204030204"/>
              </a:rPr>
              <a:t>Prevažuje rímskokatolícke náboženstvo</a:t>
            </a:r>
            <a:endParaRPr lang="sk-SK" sz="1600" dirty="0">
              <a:solidFill>
                <a:srgbClr val="FFF5D6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600" dirty="0">
                <a:solidFill>
                  <a:srgbClr val="FFF5D6"/>
                </a:solidFill>
                <a:latin typeface="Calibri" panose="020F0502020204030204"/>
              </a:rPr>
              <a:t>Silná diaspóra v zahraničí kvôli migrácii</a:t>
            </a:r>
            <a:endParaRPr lang="sk-SK" sz="1600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Demografické údaje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Hospodárstvo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571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Jedna z najväčších zásob ropy na svete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Významné suroviny: ropa, zlato, diamanty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Ďalšie zdroje: železná ruda, bauxit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503" name="accent"/>
          <p:cNvSpPr>
            <a:spLocks noGrp="1"/>
          </p:cNvSpPr>
          <p:nvPr/>
        </p:nvSpPr>
        <p:spPr>
          <a:xfrm>
            <a:off x="457200" y="2742600"/>
            <a:ext cx="4571400" cy="5715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2" name="title_box"/>
          <p:cNvSpPr>
            <a:spLocks noGrp="1"/>
          </p:cNvSpPr>
          <p:nvPr/>
        </p:nvSpPr>
        <p:spPr>
          <a:xfrm>
            <a:off x="457200" y="2857200"/>
            <a:ext cx="457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800" b="1" dirty="0">
                <a:solidFill>
                  <a:srgbClr val="002F6C"/>
                </a:solidFill>
                <a:latin typeface="Trebuchet MS" panose="020B0603020202020204"/>
              </a:rPr>
              <a:t>Poľnohospodárstvo:</a:t>
            </a:r>
            <a:endParaRPr lang="sk-SK" sz="1800" b="1" dirty="0">
              <a:solidFill>
                <a:srgbClr val="002F6C"/>
              </a:solidFill>
              <a:latin typeface="Trebuchet MS" panose="020B0603020202020204"/>
            </a:endParaRPr>
          </a:p>
        </p:txBody>
      </p:sp>
      <p:sp>
        <p:nvSpPr>
          <p:cNvPr id="305" name="text_box"/>
          <p:cNvSpPr>
            <a:spLocks noGrp="1"/>
          </p:cNvSpPr>
          <p:nvPr/>
        </p:nvSpPr>
        <p:spPr>
          <a:xfrm>
            <a:off x="457200" y="3200400"/>
            <a:ext cx="45714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700" dirty="0">
                <a:solidFill>
                  <a:srgbClr val="1A1A2E"/>
                </a:solidFill>
                <a:latin typeface="Calibri" panose="020F0502020204030204"/>
              </a:rPr>
              <a:t>Káva, kakao, banány, cukrová trstina</a:t>
            </a:r>
            <a:endParaRPr lang="sk-SK" sz="1700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735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Ekonomika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4" name="Picture 3" descr="venezuelarop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2190" y="800100"/>
            <a:ext cx="5438140" cy="3045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FFF5D6"/>
          </a:solidFill>
          <a:ln>
            <a:noFill/>
          </a:ln>
        </p:spPr>
        <p:txBody>
          <a:bodyPr/>
          <a:p/>
        </p:txBody>
      </p:sp>
      <p:sp>
        <p:nvSpPr>
          <p:cNvPr id="501" name="hd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/>
          <a:p/>
        </p:txBody>
      </p:sp>
      <p:sp>
        <p:nvSpPr>
          <p:cNvPr id="200" name="title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Dejiny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502" name="tl_bar"/>
          <p:cNvSpPr>
            <a:spLocks noGrp="1"/>
          </p:cNvSpPr>
          <p:nvPr/>
        </p:nvSpPr>
        <p:spPr>
          <a:xfrm>
            <a:off x="457200" y="800000"/>
            <a:ext cx="114300" cy="32004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503" name="dot1"/>
          <p:cNvSpPr>
            <a:spLocks noGrp="1"/>
          </p:cNvSpPr>
          <p:nvPr/>
        </p:nvSpPr>
        <p:spPr>
          <a:xfrm>
            <a:off x="400050" y="857250"/>
            <a:ext cx="228600" cy="228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1" name="year1"/>
          <p:cNvSpPr>
            <a:spLocks noGrp="1"/>
          </p:cNvSpPr>
          <p:nvPr/>
        </p:nvSpPr>
        <p:spPr>
          <a:xfrm>
            <a:off x="742950" y="8000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CE1126"/>
                </a:solidFill>
                <a:latin typeface="Trebuchet MS" panose="020B0603020202020204"/>
              </a:rPr>
              <a:t>1498</a:t>
            </a:r>
            <a:endParaRPr lang="sk-SK" sz="2000" b="1" dirty="0">
              <a:solidFill>
                <a:srgbClr val="CE1126"/>
              </a:solidFill>
              <a:latin typeface="Trebuchet MS" panose="020B0603020202020204"/>
            </a:endParaRPr>
          </a:p>
        </p:txBody>
      </p:sp>
      <p:sp>
        <p:nvSpPr>
          <p:cNvPr id="401" name="desc1"/>
          <p:cNvSpPr>
            <a:spLocks noGrp="1"/>
          </p:cNvSpPr>
          <p:nvPr/>
        </p:nvSpPr>
        <p:spPr>
          <a:xfrm>
            <a:off x="742950" y="114290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600" i="1" dirty="0">
                <a:solidFill>
                  <a:srgbClr val="1A1A2E"/>
                </a:solidFill>
                <a:latin typeface="Calibri" panose="020F0502020204030204"/>
              </a:rPr>
              <a:t>Kristóf Kolumbus objavil krajinu</a:t>
            </a:r>
            <a:endParaRPr lang="sk-SK" sz="1600" i="1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504" name="dot2"/>
          <p:cNvSpPr>
            <a:spLocks noGrp="1"/>
          </p:cNvSpPr>
          <p:nvPr/>
        </p:nvSpPr>
        <p:spPr>
          <a:xfrm>
            <a:off x="400050" y="1714800"/>
            <a:ext cx="228600" cy="228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2" name="year2"/>
          <p:cNvSpPr>
            <a:spLocks noGrp="1"/>
          </p:cNvSpPr>
          <p:nvPr/>
        </p:nvSpPr>
        <p:spPr>
          <a:xfrm>
            <a:off x="742950" y="165765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CE1126"/>
                </a:solidFill>
                <a:latin typeface="Trebuchet MS" panose="020B0603020202020204"/>
              </a:rPr>
              <a:t>1811</a:t>
            </a:r>
            <a:endParaRPr lang="sk-SK" sz="2000" b="1" dirty="0">
              <a:solidFill>
                <a:srgbClr val="CE1126"/>
              </a:solidFill>
              <a:latin typeface="Trebuchet MS" panose="020B0603020202020204"/>
            </a:endParaRPr>
          </a:p>
        </p:txBody>
      </p:sp>
      <p:sp>
        <p:nvSpPr>
          <p:cNvPr id="402" name="desc2"/>
          <p:cNvSpPr>
            <a:spLocks noGrp="1"/>
          </p:cNvSpPr>
          <p:nvPr/>
        </p:nvSpPr>
        <p:spPr>
          <a:xfrm>
            <a:off x="742950" y="200000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600" i="1" dirty="0">
                <a:solidFill>
                  <a:srgbClr val="1A1A2E"/>
                </a:solidFill>
                <a:latin typeface="Calibri" panose="020F0502020204030204"/>
              </a:rPr>
              <a:t>Vyhlásenie nezávislosti od Španielska</a:t>
            </a:r>
            <a:endParaRPr lang="sk-SK" sz="1600" i="1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505" name="dot3"/>
          <p:cNvSpPr>
            <a:spLocks noGrp="1"/>
          </p:cNvSpPr>
          <p:nvPr/>
        </p:nvSpPr>
        <p:spPr>
          <a:xfrm>
            <a:off x="400050" y="2571800"/>
            <a:ext cx="228600" cy="228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03" name="year3"/>
          <p:cNvSpPr>
            <a:spLocks noGrp="1"/>
          </p:cNvSpPr>
          <p:nvPr/>
        </p:nvSpPr>
        <p:spPr>
          <a:xfrm>
            <a:off x="742950" y="2514650"/>
            <a:ext cx="36576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CE1126"/>
                </a:solidFill>
                <a:latin typeface="Trebuchet MS" panose="020B0603020202020204"/>
              </a:rPr>
              <a:t>19.–20. stor.</a:t>
            </a:r>
            <a:endParaRPr lang="sk-SK" sz="2000" b="1" dirty="0">
              <a:solidFill>
                <a:srgbClr val="CE1126"/>
              </a:solidFill>
              <a:latin typeface="Trebuchet MS" panose="020B0603020202020204"/>
            </a:endParaRPr>
          </a:p>
        </p:txBody>
      </p:sp>
      <p:sp>
        <p:nvSpPr>
          <p:cNvPr id="403" name="desc3"/>
          <p:cNvSpPr>
            <a:spLocks noGrp="1"/>
          </p:cNvSpPr>
          <p:nvPr/>
        </p:nvSpPr>
        <p:spPr>
          <a:xfrm>
            <a:off x="742950" y="2971800"/>
            <a:ext cx="48006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600" i="1" dirty="0">
                <a:solidFill>
                  <a:srgbClr val="1A1A2E"/>
                </a:solidFill>
                <a:latin typeface="Calibri" panose="020F0502020204030204"/>
              </a:rPr>
              <a:t>Ropný boom, politická nestabilita</a:t>
            </a:r>
            <a:endParaRPr lang="sk-SK" sz="1600" i="1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História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Christopher_Columb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685800"/>
            <a:ext cx="4150995" cy="5022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FFFFFF"/>
                </a:solidFill>
                <a:latin typeface="Trebuchet MS" panose="020B0603020202020204"/>
              </a:rPr>
              <a:t>Súčasnosť</a:t>
            </a:r>
            <a:endParaRPr lang="sk-SK" sz="28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300" name="text_box"/>
          <p:cNvSpPr>
            <a:spLocks noGrp="1"/>
          </p:cNvSpPr>
          <p:nvPr/>
        </p:nvSpPr>
        <p:spPr>
          <a:xfrm>
            <a:off x="457200" y="800000"/>
            <a:ext cx="44577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marL="228600">
              <a:buChar char="•"/>
            </a:pPr>
            <a:r>
              <a:rPr lang="sk-SK" sz="1800" dirty="0">
                <a:solidFill>
                  <a:srgbClr val="FFFFFF"/>
                </a:solidFill>
                <a:latin typeface="Calibri" panose="020F0502020204030204"/>
              </a:rPr>
              <a:t>Prezident: Nicolás Maduro (od 2013)</a:t>
            </a:r>
            <a:endParaRPr lang="sk-SK" sz="1800" dirty="0">
              <a:solidFill>
                <a:srgbClr val="FFFFFF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FFFFFF"/>
                </a:solidFill>
                <a:latin typeface="Calibri" panose="020F0502020204030204"/>
              </a:rPr>
              <a:t>Krajina čelí vážnym ekonomickým problémom</a:t>
            </a:r>
            <a:endParaRPr lang="sk-SK" sz="1800" dirty="0">
              <a:solidFill>
                <a:srgbClr val="FFFFFF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FFFFFF"/>
                </a:solidFill>
                <a:latin typeface="Calibri" panose="020F0502020204030204"/>
              </a:rPr>
              <a:t>Hyperinflácia a nedostatok základných potrieb</a:t>
            </a:r>
            <a:endParaRPr lang="sk-SK" sz="1800" dirty="0">
              <a:solidFill>
                <a:srgbClr val="FFFFFF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FFFFFF"/>
                </a:solidFill>
                <a:latin typeface="Calibri" panose="020F0502020204030204"/>
              </a:rPr>
              <a:t>Veľká migrácia obyvateľstva do zahraničia</a:t>
            </a:r>
            <a:endParaRPr lang="sk-SK" sz="1800" dirty="0">
              <a:solidFill>
                <a:srgbClr val="FFFFFF"/>
              </a:solidFill>
              <a:latin typeface="Calibri" panose="020F0502020204030204"/>
            </a:endParaRPr>
          </a:p>
          <a:p>
            <a:pPr marL="228600">
              <a:buChar char="•"/>
            </a:pPr>
            <a:r>
              <a:rPr lang="sk-SK" sz="1800" dirty="0">
                <a:solidFill>
                  <a:srgbClr val="FFFFFF"/>
                </a:solidFill>
                <a:latin typeface="Calibri" panose="020F0502020204030204"/>
              </a:rPr>
              <a:t>Politická a humanitárna kríza</a:t>
            </a:r>
            <a:endParaRPr lang="sk-SK" sz="180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Politická situácia Venezuely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  <p:pic>
        <p:nvPicPr>
          <p:cNvPr id="2" name="Picture 1" descr="caracas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1376045"/>
            <a:ext cx="6671945" cy="4448175"/>
          </a:xfrm>
          <a:prstGeom prst="rect">
            <a:avLst/>
          </a:prstGeom>
        </p:spPr>
      </p:pic>
      <p:pic>
        <p:nvPicPr>
          <p:cNvPr id="3" name="Picture 2" descr="caracasno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2771775" cy="1844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/>
          <a:p/>
        </p:txBody>
      </p:sp>
      <p:sp>
        <p:nvSpPr>
          <p:cNvPr id="6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p/>
        </p:txBody>
      </p:sp>
      <p:sp>
        <p:nvSpPr>
          <p:cNvPr id="501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800" b="1" dirty="0">
                <a:solidFill>
                  <a:srgbClr val="1A1A2E"/>
                </a:solidFill>
                <a:latin typeface="Trebuchet MS" panose="020B0603020202020204"/>
              </a:rPr>
              <a:t>Zaujímavosti</a:t>
            </a:r>
            <a:endParaRPr lang="sk-SK" sz="2800" b="1" dirty="0">
              <a:solidFill>
                <a:srgbClr val="1A1A2E"/>
              </a:solidFill>
              <a:latin typeface="Trebuchet MS" panose="020B0603020202020204"/>
            </a:endParaRPr>
          </a:p>
        </p:txBody>
      </p:sp>
      <p:sp>
        <p:nvSpPr>
          <p:cNvPr id="502" name="accent"/>
          <p:cNvSpPr>
            <a:spLocks noGrp="1"/>
          </p:cNvSpPr>
          <p:nvPr/>
        </p:nvSpPr>
        <p:spPr>
          <a:xfrm>
            <a:off x="457200" y="800000"/>
            <a:ext cx="4000500" cy="12573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p/>
        </p:txBody>
      </p:sp>
      <p:sp>
        <p:nvSpPr>
          <p:cNvPr id="2" name="title_box"/>
          <p:cNvSpPr>
            <a:spLocks noGrp="1"/>
          </p:cNvSpPr>
          <p:nvPr/>
        </p:nvSpPr>
        <p:spPr>
          <a:xfrm>
            <a:off x="571200" y="85725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FFFFFF"/>
                </a:solidFill>
                <a:latin typeface="Trebuchet MS" panose="020B0603020202020204"/>
              </a:rPr>
              <a:t>Salto Ángel</a:t>
            </a:r>
            <a:endParaRPr lang="sk-SK" sz="20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1" name="plain"/>
          <p:cNvSpPr>
            <a:spLocks noGrp="1"/>
          </p:cNvSpPr>
          <p:nvPr/>
        </p:nvSpPr>
        <p:spPr>
          <a:xfrm>
            <a:off x="571200" y="125700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500" i="1" dirty="0">
                <a:solidFill>
                  <a:srgbClr val="FFF5D6"/>
                </a:solidFill>
                <a:latin typeface="Calibri" panose="020F0502020204030204"/>
              </a:rPr>
              <a:t>Najvyšší vodopád sveta (979 m)</a:t>
            </a:r>
            <a:endParaRPr lang="sk-SK" sz="15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503" name="accent"/>
          <p:cNvSpPr>
            <a:spLocks noGrp="1"/>
          </p:cNvSpPr>
          <p:nvPr/>
        </p:nvSpPr>
        <p:spPr>
          <a:xfrm>
            <a:off x="4686300" y="800000"/>
            <a:ext cx="4000500" cy="12573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/>
          <a:p/>
        </p:txBody>
      </p:sp>
      <p:sp>
        <p:nvSpPr>
          <p:cNvPr id="3" name="title_box"/>
          <p:cNvSpPr>
            <a:spLocks noGrp="1"/>
          </p:cNvSpPr>
          <p:nvPr/>
        </p:nvSpPr>
        <p:spPr>
          <a:xfrm>
            <a:off x="4800600" y="85725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FFFFFF"/>
                </a:solidFill>
                <a:latin typeface="Trebuchet MS" panose="020B0603020202020204"/>
              </a:rPr>
              <a:t>Pico Bolívar</a:t>
            </a:r>
            <a:endParaRPr lang="sk-SK" sz="20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2" name="plain"/>
          <p:cNvSpPr>
            <a:spLocks noGrp="1"/>
          </p:cNvSpPr>
          <p:nvPr/>
        </p:nvSpPr>
        <p:spPr>
          <a:xfrm>
            <a:off x="4800600" y="125700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500" i="1" dirty="0">
                <a:solidFill>
                  <a:srgbClr val="FFF5D6"/>
                </a:solidFill>
                <a:latin typeface="Calibri" panose="020F0502020204030204"/>
              </a:rPr>
              <a:t>Najvyššia hora Venezuely (5 007 m)</a:t>
            </a:r>
            <a:endParaRPr lang="sk-SK" sz="15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504" name="accent"/>
          <p:cNvSpPr>
            <a:spLocks noGrp="1"/>
          </p:cNvSpPr>
          <p:nvPr/>
        </p:nvSpPr>
        <p:spPr>
          <a:xfrm>
            <a:off x="457200" y="2171700"/>
            <a:ext cx="4000500" cy="12573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4" name="title_box"/>
          <p:cNvSpPr>
            <a:spLocks noGrp="1"/>
          </p:cNvSpPr>
          <p:nvPr/>
        </p:nvSpPr>
        <p:spPr>
          <a:xfrm>
            <a:off x="571200" y="222895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FFFFFF"/>
                </a:solidFill>
                <a:latin typeface="Trebuchet MS" panose="020B0603020202020204"/>
              </a:rPr>
              <a:t>Ostrov Margarita</a:t>
            </a:r>
            <a:endParaRPr lang="sk-SK" sz="20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3" name="plain"/>
          <p:cNvSpPr>
            <a:spLocks noGrp="1"/>
          </p:cNvSpPr>
          <p:nvPr/>
        </p:nvSpPr>
        <p:spPr>
          <a:xfrm>
            <a:off x="571200" y="262870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500" i="1" dirty="0">
                <a:solidFill>
                  <a:srgbClr val="FFF5D6"/>
                </a:solidFill>
                <a:latin typeface="Calibri" panose="020F0502020204030204"/>
              </a:rPr>
              <a:t>Najväčší ostrov – turistická perla</a:t>
            </a:r>
            <a:endParaRPr lang="sk-SK" sz="15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505" name="accent"/>
          <p:cNvSpPr>
            <a:spLocks noGrp="1"/>
          </p:cNvSpPr>
          <p:nvPr/>
        </p:nvSpPr>
        <p:spPr>
          <a:xfrm>
            <a:off x="4686300" y="2171700"/>
            <a:ext cx="4000500" cy="12573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  <p:sp>
        <p:nvSpPr>
          <p:cNvPr id="5" name="title_box"/>
          <p:cNvSpPr>
            <a:spLocks noGrp="1"/>
          </p:cNvSpPr>
          <p:nvPr/>
        </p:nvSpPr>
        <p:spPr>
          <a:xfrm>
            <a:off x="4800600" y="222895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b="1" dirty="0">
                <a:solidFill>
                  <a:srgbClr val="1A1A2E"/>
                </a:solidFill>
                <a:latin typeface="Trebuchet MS" panose="020B0603020202020204"/>
              </a:rPr>
              <a:t>Ropa</a:t>
            </a:r>
            <a:endParaRPr lang="sk-SK" sz="2000" b="1" dirty="0">
              <a:solidFill>
                <a:srgbClr val="1A1A2E"/>
              </a:solidFill>
              <a:latin typeface="Trebuchet MS" panose="020B0603020202020204"/>
            </a:endParaRPr>
          </a:p>
        </p:txBody>
      </p:sp>
      <p:sp>
        <p:nvSpPr>
          <p:cNvPr id="404" name="plain"/>
          <p:cNvSpPr>
            <a:spLocks noGrp="1"/>
          </p:cNvSpPr>
          <p:nvPr/>
        </p:nvSpPr>
        <p:spPr>
          <a:xfrm>
            <a:off x="4800600" y="2628700"/>
            <a:ext cx="3771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500" i="1" dirty="0">
                <a:solidFill>
                  <a:srgbClr val="1A1A2E"/>
                </a:solidFill>
                <a:latin typeface="Calibri" panose="020F0502020204030204"/>
              </a:rPr>
              <a:t>Jedny z najväčších zásob ropy na svete</a:t>
            </a:r>
            <a:endParaRPr lang="sk-SK" sz="1500" i="1" dirty="0">
              <a:solidFill>
                <a:srgbClr val="1A1A2E"/>
              </a:solidFill>
              <a:latin typeface="Calibri" panose="020F0502020204030204"/>
            </a:endParaRPr>
          </a:p>
        </p:txBody>
      </p:sp>
      <p:sp>
        <p:nvSpPr>
          <p:cNvPr id="999" name="source"/>
          <p:cNvSpPr>
            <a:spLocks noGrp="1"/>
          </p:cNvSpPr>
          <p:nvPr/>
        </p:nvSpPr>
        <p:spPr>
          <a:xfrm>
            <a:off x="457200" y="65151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p>
            <a:pPr algn="l"/>
            <a:r>
              <a:rPr lang="sk-SK" sz="1000" i="1" dirty="0">
                <a:solidFill>
                  <a:srgbClr val="888888"/>
                </a:solidFill>
                <a:latin typeface="Calibri" panose="020F0502020204030204"/>
              </a:rPr>
              <a:t>Zdroj: Wikipedia – Zaujímavosti o Venezuele</a:t>
            </a:r>
            <a:endParaRPr lang="sk-SK" sz="1000" i="1" dirty="0">
              <a:solidFill>
                <a:srgbClr val="88888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"/>
          <p:cNvSpPr>
            <a:spLocks noGrp="1"/>
          </p:cNvSpPr>
          <p:nvPr/>
        </p:nvSpPr>
        <p:spPr>
          <a:xfrm>
            <a:off x="635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p/>
        </p:txBody>
      </p:sp>
      <p:sp>
        <p:nvSpPr>
          <p:cNvPr id="200" name="title_box"/>
          <p:cNvSpPr>
            <a:spLocks noGrp="1"/>
          </p:cNvSpPr>
          <p:nvPr/>
        </p:nvSpPr>
        <p:spPr>
          <a:xfrm>
            <a:off x="457200" y="1371600"/>
            <a:ext cx="5486400" cy="1609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4000" b="1" dirty="0">
                <a:solidFill>
                  <a:srgbClr val="FFFFFF"/>
                </a:solidFill>
                <a:latin typeface="Trebuchet MS" panose="020B0603020202020204"/>
              </a:rPr>
              <a:t>Ďakujem za pozornosť!</a:t>
            </a:r>
            <a:endParaRPr lang="sk-SK" sz="4000" b="1" dirty="0">
              <a:solidFill>
                <a:srgbClr val="FFFFFF"/>
              </a:solidFill>
              <a:latin typeface="Trebuchet MS" panose="020B0603020202020204"/>
            </a:endParaRPr>
          </a:p>
        </p:txBody>
      </p:sp>
      <p:sp>
        <p:nvSpPr>
          <p:cNvPr id="401" name="plain"/>
          <p:cNvSpPr>
            <a:spLocks noGrp="1"/>
          </p:cNvSpPr>
          <p:nvPr/>
        </p:nvSpPr>
        <p:spPr>
          <a:xfrm>
            <a:off x="457200" y="5943635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2000" i="1" dirty="0">
                <a:solidFill>
                  <a:srgbClr val="FFF5D6"/>
                </a:solidFill>
                <a:latin typeface="Calibri" panose="020F0502020204030204"/>
              </a:rPr>
              <a:t>Walter Scharbert</a:t>
            </a:r>
            <a:endParaRPr lang="sk-SK" sz="2000" i="1" dirty="0">
              <a:solidFill>
                <a:srgbClr val="FFF5D6"/>
              </a:solidFill>
              <a:latin typeface="Calibri" panose="020F0502020204030204"/>
            </a:endParaRPr>
          </a:p>
        </p:txBody>
      </p:sp>
      <p:sp>
        <p:nvSpPr>
          <p:cNvPr id="402" name="plain"/>
          <p:cNvSpPr>
            <a:spLocks noGrp="1"/>
          </p:cNvSpPr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p>
            <a:pPr algn="l"/>
            <a:r>
              <a:rPr lang="sk-SK" sz="1600" i="1" dirty="0">
                <a:solidFill>
                  <a:srgbClr val="CCCCCC"/>
                </a:solidFill>
                <a:latin typeface="Calibri" panose="020F0502020204030204"/>
              </a:rPr>
              <a:t>Zdroj: Wikipedia</a:t>
            </a:r>
            <a:endParaRPr lang="sk-SK" sz="1600" i="1" dirty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4" name="accent"/>
          <p:cNvSpPr>
            <a:spLocks noGrp="1"/>
          </p:cNvSpPr>
          <p:nvPr/>
        </p:nvSpPr>
        <p:spPr>
          <a:xfrm>
            <a:off x="0" y="0"/>
            <a:ext cx="12192635" cy="685800"/>
          </a:xfrm>
          <a:prstGeom prst="rect">
            <a:avLst/>
          </a:prstGeom>
          <a:solidFill>
            <a:srgbClr val="CF9801"/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2225</Words>
  <Application>WPS Presentation</Application>
  <PresentationFormat>Widescreen</PresentationFormat>
  <Paragraphs>145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Trebuchet MS</vt:lpstr>
      <vt:lpstr>Calibri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Venezuela</dc:title>
  <dc:creator>schar</dc:creator>
  <cp:lastModifiedBy>schar</cp:lastModifiedBy>
  <cp:revision>3</cp:revision>
  <dcterms:created xsi:type="dcterms:W3CDTF">2026-06-04T18:48:00Z</dcterms:created>
  <dcterms:modified xsi:type="dcterms:W3CDTF">2026-06-04T19:36:40Z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AD825AA9F1454794A0153A4118757921_11</vt:lpwstr>
  </property>
</Properties>
</file>