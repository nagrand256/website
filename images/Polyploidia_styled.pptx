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59" r:id="rId8"/>
    <p:sldId id="260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E425AC16-BCEB-42B5-CDDB-70115345BA51}">
          <p14:sldIdLst>
            <p14:sldId id="256"/>
          </p14:sldIdLst>
        </p14:section>
        <p14:section name="Polyploidia" id="{41E9D444-AC01-8998-A3C5-946F6CD26171}">
          <p14:sldIdLst>
            <p14:sldId id="257"/>
          </p14:sldIdLst>
        </p14:section>
        <p14:section name="Rastliny" id="{17912EDE-38D3-4A13-3EE6-4DAB5D1FEB3D}">
          <p14:sldIdLst>
            <p14:sldId id="258"/>
            <p14:sldId id="261"/>
          </p14:sldIdLst>
        </p14:section>
        <p14:section name="Význam" id="{3E8F06BD-E1F2-61BC-8793-188B735D920D}">
          <p14:sldIdLst>
            <p14:sldId id="259"/>
          </p14:sldIdLst>
        </p14:section>
        <p14:section name="Záver" id="{C9EFD4FB-F409-0291-780E-F9AD0671D09A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651760"/>
            <a:ext cx="768096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694944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5544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Polyploidia</a:t>
            </a: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Walter Scharbert</a:t>
            </a:r>
            <a:endParaRPr lang="en-US" sz="2000" dirty="0"/>
          </a:p>
        </p:txBody>
      </p:sp>
      <p:sp>
        <p:nvSpPr>
          <p:cNvPr id="4" name="Cell 1"/>
          <p:cNvSpPr/>
          <p:nvPr/>
        </p:nvSpPr>
        <p:spPr>
          <a:xfrm>
            <a:off x="6035040" y="822960"/>
            <a:ext cx="2194560" cy="219456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ll 2"/>
          <p:cNvSpPr/>
          <p:nvPr/>
        </p:nvSpPr>
        <p:spPr>
          <a:xfrm>
            <a:off x="7040880" y="1463040"/>
            <a:ext cx="1828800" cy="182880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ell 3"/>
          <p:cNvSpPr/>
          <p:nvPr/>
        </p:nvSpPr>
        <p:spPr>
          <a:xfrm>
            <a:off x="5852160" y="2468880"/>
            <a:ext cx="1828800" cy="1828800"/>
          </a:xfrm>
          <a:prstGeom prst="ellipse">
            <a:avLst/>
          </a:prstGeom>
          <a:solidFill>
            <a:schemeClr val="accent5">
              <a:alpha val="7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ell 4"/>
          <p:cNvSpPr/>
          <p:nvPr/>
        </p:nvSpPr>
        <p:spPr>
          <a:xfrm>
            <a:off x="7223760" y="3108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ell 5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chemeClr val="bg1">
              <a:alpha val="45000"/>
            </a:schemeClr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Polyploidia</a:t>
            </a:r>
            <a:endParaRPr lang="en-US" sz="3800" dirty="0"/>
          </a:p>
        </p:txBody>
      </p:sp>
      <p:sp>
        <p:nvSpPr>
          <p:cNvPr id="3" name="Motif 1"/>
          <p:cNvSpPr/>
          <p:nvPr/>
        </p:nvSpPr>
        <p:spPr>
          <a:xfrm>
            <a:off x="7818120" y="5303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f 2"/>
          <p:cNvSpPr/>
          <p:nvPr/>
        </p:nvSpPr>
        <p:spPr>
          <a:xfrm>
            <a:off x="8055864" y="530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Definition"/>
          <p:cNvSpPr txBox="1"/>
          <p:nvPr/>
        </p:nvSpPr>
        <p:spPr>
          <a:xfrm>
            <a:off x="548640" y="1371600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Stav, pri ktorom je v jadre somatickej (=telovej) bunky </a:t>
            </a:r>
            <a:r>
              <a:rPr lang="en-US" sz="2400" b="1" dirty="0">
                <a:solidFill>
                  <a:schemeClr val="accent1"/>
                </a:solidFill>
              </a:rPr>
              <a:t>vyšší počet chromozómov ako dva</a:t>
            </a:r>
            <a:endParaRPr lang="en-US" sz="2400" dirty="0"/>
          </a:p>
        </p:txBody>
      </p:sp>
      <p:sp>
        <p:nvSpPr>
          <p:cNvPr id="6" name="Ploidy card"/>
          <p:cNvSpPr/>
          <p:nvPr/>
        </p:nvSpPr>
        <p:spPr>
          <a:xfrm>
            <a:off x="5486400" y="137160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Label 2n"/>
          <p:cNvSpPr txBox="1"/>
          <p:nvPr/>
        </p:nvSpPr>
        <p:spPr>
          <a:xfrm>
            <a:off x="5715000" y="157276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2n</a:t>
            </a:r>
            <a:endParaRPr lang="en-US" sz="2000" dirty="0"/>
          </a:p>
        </p:txBody>
      </p:sp>
      <p:sp>
        <p:nvSpPr>
          <p:cNvPr id="8" name="Set 2n 1"/>
          <p:cNvSpPr/>
          <p:nvPr/>
        </p:nvSpPr>
        <p:spPr>
          <a:xfrm>
            <a:off x="6492240" y="1618488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et 2n 2"/>
          <p:cNvSpPr/>
          <p:nvPr/>
        </p:nvSpPr>
        <p:spPr>
          <a:xfrm>
            <a:off x="6729984" y="1618488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Label 3n"/>
          <p:cNvSpPr txBox="1"/>
          <p:nvPr/>
        </p:nvSpPr>
        <p:spPr>
          <a:xfrm>
            <a:off x="5715000" y="221284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3n</a:t>
            </a:r>
            <a:endParaRPr lang="en-US" sz="2000" dirty="0"/>
          </a:p>
        </p:txBody>
      </p:sp>
      <p:sp>
        <p:nvSpPr>
          <p:cNvPr id="11" name="Set 3n 1"/>
          <p:cNvSpPr/>
          <p:nvPr/>
        </p:nvSpPr>
        <p:spPr>
          <a:xfrm>
            <a:off x="6492240" y="2258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et 3n 2"/>
          <p:cNvSpPr/>
          <p:nvPr/>
        </p:nvSpPr>
        <p:spPr>
          <a:xfrm>
            <a:off x="6729984" y="2258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Set 3n 3"/>
          <p:cNvSpPr/>
          <p:nvPr/>
        </p:nvSpPr>
        <p:spPr>
          <a:xfrm>
            <a:off x="6967728" y="22585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Label 4n"/>
          <p:cNvSpPr txBox="1"/>
          <p:nvPr/>
        </p:nvSpPr>
        <p:spPr>
          <a:xfrm>
            <a:off x="5715000" y="28529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4n</a:t>
            </a:r>
            <a:endParaRPr lang="en-US" sz="2000" dirty="0"/>
          </a:p>
        </p:txBody>
      </p:sp>
      <p:sp>
        <p:nvSpPr>
          <p:cNvPr id="15" name="Set 4n 1"/>
          <p:cNvSpPr/>
          <p:nvPr/>
        </p:nvSpPr>
        <p:spPr>
          <a:xfrm>
            <a:off x="6492240" y="2898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et 4n 2"/>
          <p:cNvSpPr/>
          <p:nvPr/>
        </p:nvSpPr>
        <p:spPr>
          <a:xfrm>
            <a:off x="6729984" y="2898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Set 4n 3"/>
          <p:cNvSpPr/>
          <p:nvPr/>
        </p:nvSpPr>
        <p:spPr>
          <a:xfrm>
            <a:off x="6967728" y="2898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et 4n 4"/>
          <p:cNvSpPr/>
          <p:nvPr/>
        </p:nvSpPr>
        <p:spPr>
          <a:xfrm>
            <a:off x="7205472" y="2898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Callout card"/>
          <p:cNvSpPr/>
          <p:nvPr/>
        </p:nvSpPr>
        <p:spPr>
          <a:xfrm>
            <a:off x="548640" y="370332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Callout icon circle"/>
          <p:cNvSpPr/>
          <p:nvPr/>
        </p:nvSpPr>
        <p:spPr>
          <a:xfrm>
            <a:off x="777240" y="3913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0" descr="Záka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4023360"/>
            <a:ext cx="237744" cy="237744"/>
          </a:xfrm>
          <a:prstGeom prst="rect">
            <a:avLst/>
          </a:prstGeom>
        </p:spPr>
      </p:pic>
      <p:sp>
        <p:nvSpPr>
          <p:cNvPr id="22" name="Callout text"/>
          <p:cNvSpPr txBox="1"/>
          <p:nvPr/>
        </p:nvSpPr>
        <p:spPr>
          <a:xfrm>
            <a:off x="1463040" y="3703320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U človeka a cicavcov sa nevyskytuje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Polyploidia u rastlín</a:t>
            </a:r>
            <a:endParaRPr lang="en-US" sz="3800" dirty="0"/>
          </a:p>
        </p:txBody>
      </p:sp>
      <p:sp>
        <p:nvSpPr>
          <p:cNvPr id="3" name="Motif 1"/>
          <p:cNvSpPr/>
          <p:nvPr/>
        </p:nvSpPr>
        <p:spPr>
          <a:xfrm>
            <a:off x="7818120" y="5303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f 2"/>
          <p:cNvSpPr/>
          <p:nvPr/>
        </p:nvSpPr>
        <p:spPr>
          <a:xfrm>
            <a:off x="8055864" y="530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ard 1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Icon circle 1"/>
          <p:cNvSpPr/>
          <p:nvPr/>
        </p:nvSpPr>
        <p:spPr>
          <a:xfrm>
            <a:off x="914400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Semienk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411480" cy="411480"/>
          </a:xfrm>
          <a:prstGeom prst="rect">
            <a:avLst/>
          </a:prstGeom>
        </p:spPr>
      </p:pic>
      <p:sp>
        <p:nvSpPr>
          <p:cNvPr id="8" name="Card heading 1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Prirodzený stav</a:t>
            </a:r>
            <a:endParaRPr lang="en-US" sz="2400" dirty="0"/>
          </a:p>
        </p:txBody>
      </p:sp>
      <p:sp>
        <p:nvSpPr>
          <p:cNvPr id="9" name="Card text 1"/>
          <p:cNvSpPr txBox="1"/>
          <p:nvPr/>
        </p:nvSpPr>
        <p:spPr>
          <a:xfrm>
            <a:off x="914400" y="33832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Pre niektoré rastliny je polyploidia prirodzený stav</a:t>
            </a:r>
            <a:endParaRPr lang="en-US" sz="2000" dirty="0"/>
          </a:p>
        </p:txBody>
      </p:sp>
      <p:sp>
        <p:nvSpPr>
          <p:cNvPr id="10" name="Card 2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Icon circle 2"/>
          <p:cNvSpPr/>
          <p:nvPr/>
        </p:nvSpPr>
        <p:spPr>
          <a:xfrm>
            <a:off x="5074920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D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411480" cy="411480"/>
          </a:xfrm>
          <a:prstGeom prst="rect">
            <a:avLst/>
          </a:prstGeom>
        </p:spPr>
      </p:pic>
      <p:sp>
        <p:nvSpPr>
          <p:cNvPr id="13" name="Card heading 2"/>
          <p:cNvSpPr txBox="1"/>
          <p:nvPr/>
        </p:nvSpPr>
        <p:spPr>
          <a:xfrm>
            <a:off x="5074920" y="2880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Zdroj premenlivosti</a:t>
            </a:r>
            <a:endParaRPr lang="en-US" sz="2400" dirty="0"/>
          </a:p>
        </p:txBody>
      </p:sp>
      <p:sp>
        <p:nvSpPr>
          <p:cNvPr id="14" name="Card text 2"/>
          <p:cNvSpPr txBox="1"/>
          <p:nvPr/>
        </p:nvSpPr>
        <p:spPr>
          <a:xfrm>
            <a:off x="5074920" y="33832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Je dôležitý zdroj premenlivosti v evolúcii a v šľachtení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Card 1"/>
          <p:cNvSpPr/>
          <p:nvPr/>
        </p:nvSpPr>
        <p:spPr>
          <a:xfrm>
            <a:off x="443230" y="3458210"/>
            <a:ext cx="8257540" cy="108204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Card 1"/>
          <p:cNvSpPr/>
          <p:nvPr/>
        </p:nvSpPr>
        <p:spPr>
          <a:xfrm>
            <a:off x="443230" y="2376170"/>
            <a:ext cx="8257540" cy="108204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Card 1"/>
          <p:cNvSpPr/>
          <p:nvPr/>
        </p:nvSpPr>
        <p:spPr>
          <a:xfrm>
            <a:off x="443230" y="1294130"/>
            <a:ext cx="8257540" cy="108204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" name="Title 1"/>
          <p:cNvSpPr/>
          <p:nvPr>
            <p:ph type="title" idx="100"/>
          </p:nvPr>
        </p:nvSpPr>
        <p:spPr/>
        <p:txBody>
          <a:bodyPr/>
          <a:p>
            <a:r>
              <a:rPr lang="en-US"/>
              <a:t>Ako polyploidia vzniká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43230" y="1294130"/>
            <a:ext cx="3447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chemeClr val="tx2"/>
                </a:solidFill>
              </a:rPr>
              <a:t>Chemická indukcia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43230" y="2376170"/>
            <a:ext cx="2960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chemeClr val="tx2"/>
                </a:solidFill>
              </a:rPr>
              <a:t>Prirodzené poruchy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43230" y="3458210"/>
            <a:ext cx="2016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chemeClr val="tx2"/>
                </a:solidFill>
              </a:rPr>
              <a:t>Hybridizácia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43230" y="1754505"/>
            <a:ext cx="8257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Antimitotické látky blokujú deliace vretienko, bunka zdvojnásobí počet DNA, ale nerozdelí sa na dve bunky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443230" y="2835910"/>
            <a:ext cx="8256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Chybou pri meióze vznikajú namiesto haploidných gamét(n) neredukované gaméty(2n).</a:t>
            </a:r>
            <a:endParaRPr lang="en-US"/>
          </a:p>
          <a:p>
            <a:r>
              <a:rPr lang="en-US"/>
              <a:t>Spojením 2n + 2n vzniká tetraploid a spojením n + 2n vzniká triploid.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40055" y="3914140"/>
            <a:ext cx="8260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Skrížením dvoch rôznch druhov, rastlina je sterilná.</a:t>
            </a:r>
            <a:endParaRPr lang="en-US"/>
          </a:p>
          <a:p>
            <a:r>
              <a:rPr lang="en-US"/>
              <a:t>Ak nastane zdvojnásobenie chromozómov stáva sa úrodnou.</a:t>
            </a:r>
            <a:endParaRPr lang="en-US"/>
          </a:p>
        </p:txBody>
      </p:sp>
      <p:sp>
        <p:nvSpPr>
          <p:cNvPr id="18" name="Motif 1"/>
          <p:cNvSpPr/>
          <p:nvPr/>
        </p:nvSpPr>
        <p:spPr>
          <a:xfrm>
            <a:off x="7818120" y="5303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Motif 2"/>
          <p:cNvSpPr/>
          <p:nvPr/>
        </p:nvSpPr>
        <p:spPr>
          <a:xfrm>
            <a:off x="8055864" y="530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Význam polyploidie</a:t>
            </a:r>
            <a:endParaRPr lang="en-US" sz="3800" dirty="0"/>
          </a:p>
        </p:txBody>
      </p:sp>
      <p:sp>
        <p:nvSpPr>
          <p:cNvPr id="3" name="Motif 1"/>
          <p:cNvSpPr/>
          <p:nvPr/>
        </p:nvSpPr>
        <p:spPr>
          <a:xfrm>
            <a:off x="7818120" y="53035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Motif 2"/>
          <p:cNvSpPr/>
          <p:nvPr/>
        </p:nvSpPr>
        <p:spPr>
          <a:xfrm>
            <a:off x="8055864" y="530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Row 1"/>
          <p:cNvSpPr/>
          <p:nvPr/>
        </p:nvSpPr>
        <p:spPr>
          <a:xfrm>
            <a:off x="548640" y="1325880"/>
            <a:ext cx="5577840" cy="585216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667512" y="14081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 text 1"/>
          <p:cNvSpPr txBox="1"/>
          <p:nvPr/>
        </p:nvSpPr>
        <p:spPr>
          <a:xfrm>
            <a:off x="667512" y="14081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3n</a:t>
            </a:r>
            <a:endParaRPr lang="en-US" sz="1400" dirty="0"/>
          </a:p>
        </p:txBody>
      </p:sp>
      <p:sp>
        <p:nvSpPr>
          <p:cNvPr id="8" name="Row text 1"/>
          <p:cNvSpPr txBox="1"/>
          <p:nvPr/>
        </p:nvSpPr>
        <p:spPr>
          <a:xfrm>
            <a:off x="1234440" y="1325880"/>
            <a:ext cx="4800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Cukrová repa</a:t>
            </a:r>
            <a:r>
              <a:rPr lang="en-US" sz="1400" b="1" dirty="0">
                <a:solidFill>
                  <a:schemeClr val="accent1"/>
                </a:solidFill>
              </a:rPr>
              <a:t>   3n = 27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 15–20 % vyšší obsah cukru</a:t>
            </a:r>
            <a:endParaRPr lang="en-US" sz="1500" dirty="0"/>
          </a:p>
        </p:txBody>
      </p:sp>
      <p:sp>
        <p:nvSpPr>
          <p:cNvPr id="9" name="Row 2"/>
          <p:cNvSpPr/>
          <p:nvPr/>
        </p:nvSpPr>
        <p:spPr>
          <a:xfrm>
            <a:off x="548640" y="1993392"/>
            <a:ext cx="5577840" cy="585216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667512" y="20756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text 2"/>
          <p:cNvSpPr txBox="1"/>
          <p:nvPr/>
        </p:nvSpPr>
        <p:spPr>
          <a:xfrm>
            <a:off x="667512" y="20756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3n</a:t>
            </a:r>
            <a:endParaRPr lang="en-US" sz="1400" dirty="0"/>
          </a:p>
        </p:txBody>
      </p:sp>
      <p:sp>
        <p:nvSpPr>
          <p:cNvPr id="12" name="Row text 2"/>
          <p:cNvSpPr txBox="1"/>
          <p:nvPr/>
        </p:nvSpPr>
        <p:spPr>
          <a:xfrm>
            <a:off x="1234440" y="1993392"/>
            <a:ext cx="4800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Melóny a banány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sú bezsemenné</a:t>
            </a:r>
            <a:endParaRPr lang="en-US" sz="1500" dirty="0"/>
          </a:p>
        </p:txBody>
      </p:sp>
      <p:sp>
        <p:nvSpPr>
          <p:cNvPr id="13" name="Row 3"/>
          <p:cNvSpPr/>
          <p:nvPr/>
        </p:nvSpPr>
        <p:spPr>
          <a:xfrm>
            <a:off x="548640" y="2660904"/>
            <a:ext cx="5577840" cy="585216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67512" y="27432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text 3"/>
          <p:cNvSpPr txBox="1"/>
          <p:nvPr/>
        </p:nvSpPr>
        <p:spPr>
          <a:xfrm>
            <a:off x="667512" y="2743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4n</a:t>
            </a:r>
            <a:endParaRPr lang="en-US" sz="1400" dirty="0"/>
          </a:p>
        </p:txBody>
      </p:sp>
      <p:sp>
        <p:nvSpPr>
          <p:cNvPr id="16" name="Row text 3"/>
          <p:cNvSpPr txBox="1"/>
          <p:nvPr/>
        </p:nvSpPr>
        <p:spPr>
          <a:xfrm>
            <a:off x="1234440" y="2660904"/>
            <a:ext cx="4800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Zemiaky</a:t>
            </a:r>
            <a:r>
              <a:rPr lang="en-US" sz="1400" b="1" dirty="0">
                <a:solidFill>
                  <a:schemeClr val="accent1"/>
                </a:solidFill>
              </a:rPr>
              <a:t>   4n = 48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majú väčší výnos</a:t>
            </a:r>
            <a:endParaRPr lang="en-US" sz="1500" dirty="0"/>
          </a:p>
        </p:txBody>
      </p:sp>
      <p:sp>
        <p:nvSpPr>
          <p:cNvPr id="17" name="Row 4"/>
          <p:cNvSpPr/>
          <p:nvPr/>
        </p:nvSpPr>
        <p:spPr>
          <a:xfrm>
            <a:off x="548640" y="3328416"/>
            <a:ext cx="5577840" cy="585216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667512" y="34107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 text 4"/>
          <p:cNvSpPr txBox="1"/>
          <p:nvPr/>
        </p:nvSpPr>
        <p:spPr>
          <a:xfrm>
            <a:off x="667512" y="34107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6n</a:t>
            </a:r>
            <a:endParaRPr lang="en-US" sz="1400" dirty="0"/>
          </a:p>
        </p:txBody>
      </p:sp>
      <p:sp>
        <p:nvSpPr>
          <p:cNvPr id="20" name="Row text 4"/>
          <p:cNvSpPr txBox="1"/>
          <p:nvPr/>
        </p:nvSpPr>
        <p:spPr>
          <a:xfrm>
            <a:off x="1234440" y="3328416"/>
            <a:ext cx="4800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Pšenica</a:t>
            </a:r>
            <a:r>
              <a:rPr lang="en-US" sz="1400" b="1" dirty="0">
                <a:solidFill>
                  <a:schemeClr val="accent1"/>
                </a:solidFill>
              </a:rPr>
              <a:t>   6n = 42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má lepšie vlastnosti lepku</a:t>
            </a:r>
            <a:endParaRPr lang="en-US" sz="1500" dirty="0"/>
          </a:p>
        </p:txBody>
      </p:sp>
      <p:sp>
        <p:nvSpPr>
          <p:cNvPr id="21" name="Row 5"/>
          <p:cNvSpPr/>
          <p:nvPr/>
        </p:nvSpPr>
        <p:spPr>
          <a:xfrm>
            <a:off x="548640" y="3995928"/>
            <a:ext cx="5577840" cy="585216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Badge 5"/>
          <p:cNvSpPr/>
          <p:nvPr/>
        </p:nvSpPr>
        <p:spPr>
          <a:xfrm>
            <a:off x="667512" y="407822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 text 5"/>
          <p:cNvSpPr txBox="1"/>
          <p:nvPr/>
        </p:nvSpPr>
        <p:spPr>
          <a:xfrm>
            <a:off x="667512" y="40782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8n</a:t>
            </a:r>
            <a:endParaRPr lang="en-US" sz="1400" dirty="0"/>
          </a:p>
        </p:txBody>
      </p:sp>
      <p:sp>
        <p:nvSpPr>
          <p:cNvPr id="24" name="Row text 5"/>
          <p:cNvSpPr txBox="1"/>
          <p:nvPr/>
        </p:nvSpPr>
        <p:spPr>
          <a:xfrm>
            <a:off x="1234440" y="3995928"/>
            <a:ext cx="48006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Jahody</a:t>
            </a:r>
            <a:r>
              <a:rPr lang="en-US" sz="1400" b="1" dirty="0">
                <a:solidFill>
                  <a:schemeClr val="accent1"/>
                </a:solidFill>
              </a:rPr>
              <a:t>   8n = 56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majú väčšie plody a vyváženú chuť</a:t>
            </a:r>
            <a:endParaRPr lang="en-US" sz="1500" dirty="0"/>
          </a:p>
        </p:txBody>
      </p:sp>
      <p:sp>
        <p:nvSpPr>
          <p:cNvPr id="25" name="Photo card"/>
          <p:cNvSpPr/>
          <p:nvPr/>
        </p:nvSpPr>
        <p:spPr>
          <a:xfrm>
            <a:off x="6355080" y="1325880"/>
            <a:ext cx="2240280" cy="3255264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Banana photo" descr="Banán: diploidný a triploidn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1481328"/>
            <a:ext cx="1920240" cy="2286000"/>
          </a:xfrm>
          <a:prstGeom prst="rect">
            <a:avLst/>
          </a:prstGeom>
        </p:spPr>
      </p:pic>
      <p:sp>
        <p:nvSpPr>
          <p:cNvPr id="27" name="Photo caption"/>
          <p:cNvSpPr txBox="1"/>
          <p:nvPr/>
        </p:nvSpPr>
        <p:spPr>
          <a:xfrm>
            <a:off x="6492240" y="3858768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Banán: diploidný vs. triploidný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65176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Ďakujem za pozornosť</a:t>
            </a:r>
            <a:endParaRPr lang="en-US" sz="4800" dirty="0"/>
          </a:p>
        </p:txBody>
      </p:sp>
      <p:sp>
        <p:nvSpPr>
          <p:cNvPr id="3" name="Closing set 1"/>
          <p:cNvSpPr/>
          <p:nvPr/>
        </p:nvSpPr>
        <p:spPr>
          <a:xfrm>
            <a:off x="3246120" y="1371600"/>
            <a:ext cx="822960" cy="822960"/>
          </a:xfrm>
          <a:prstGeom prst="ellipse">
            <a:avLst/>
          </a:prstGeom>
          <a:solidFill>
            <a:schemeClr val="accent3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Closing set 2"/>
          <p:cNvSpPr/>
          <p:nvPr/>
        </p:nvSpPr>
        <p:spPr>
          <a:xfrm>
            <a:off x="3781044" y="1371600"/>
            <a:ext cx="822960" cy="82296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losing set 3"/>
          <p:cNvSpPr/>
          <p:nvPr/>
        </p:nvSpPr>
        <p:spPr>
          <a:xfrm>
            <a:off x="4315968" y="1371600"/>
            <a:ext cx="822960" cy="822960"/>
          </a:xfrm>
          <a:prstGeom prst="ellipse">
            <a:avLst/>
          </a:prstGeom>
          <a:solidFill>
            <a:schemeClr val="accent5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losing set 4"/>
          <p:cNvSpPr/>
          <p:nvPr/>
        </p:nvSpPr>
        <p:spPr>
          <a:xfrm>
            <a:off x="4850892" y="1371600"/>
            <a:ext cx="822960" cy="822960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Box 7"/>
          <p:cNvSpPr txBox="1"/>
          <p:nvPr/>
        </p:nvSpPr>
        <p:spPr>
          <a:xfrm>
            <a:off x="731520" y="3642995"/>
            <a:ext cx="7680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Zdroje: Wikipédia, Google obrázky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yploidia">
  <a:themeElements>
    <a:clrScheme name="Polyploidia">
      <a:dk1>
        <a:srgbClr val="17261E"/>
      </a:dk1>
      <a:lt1>
        <a:srgbClr val="FFFFFF"/>
      </a:lt1>
      <a:dk2>
        <a:srgbClr val="1F4D36"/>
      </a:dk2>
      <a:lt2>
        <a:srgbClr val="F1F6EF"/>
      </a:lt2>
      <a:accent1>
        <a:srgbClr val="2E7D4F"/>
      </a:accent1>
      <a:accent2>
        <a:srgbClr val="F2A93B"/>
      </a:accent2>
      <a:accent3>
        <a:srgbClr val="97BC62"/>
      </a:accent3>
      <a:accent4>
        <a:srgbClr val="D3E5D0"/>
      </a:accent4>
      <a:accent5>
        <a:srgbClr val="5E8C74"/>
      </a:accent5>
      <a:accent6>
        <a:srgbClr val="D96C3F"/>
      </a:accent6>
      <a:hlink>
        <a:srgbClr val="2E7D4F"/>
      </a:hlink>
      <a:folHlink>
        <a:srgbClr val="5E8C74"/>
      </a:folHlink>
    </a:clrScheme>
    <a:fontScheme name="Polyploid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lyploidia">
  <a:themeElements>
    <a:clrScheme name="Polyploidia">
      <a:dk1>
        <a:srgbClr val="17261E"/>
      </a:dk1>
      <a:lt1>
        <a:srgbClr val="FFFFFF"/>
      </a:lt1>
      <a:dk2>
        <a:srgbClr val="1F4D36"/>
      </a:dk2>
      <a:lt2>
        <a:srgbClr val="F1F6EF"/>
      </a:lt2>
      <a:accent1>
        <a:srgbClr val="2E7D4F"/>
      </a:accent1>
      <a:accent2>
        <a:srgbClr val="F2A93B"/>
      </a:accent2>
      <a:accent3>
        <a:srgbClr val="97BC62"/>
      </a:accent3>
      <a:accent4>
        <a:srgbClr val="D3E5D0"/>
      </a:accent4>
      <a:accent5>
        <a:srgbClr val="5E8C74"/>
      </a:accent5>
      <a:accent6>
        <a:srgbClr val="D96C3F"/>
      </a:accent6>
      <a:hlink>
        <a:srgbClr val="2E7D4F"/>
      </a:hlink>
      <a:folHlink>
        <a:srgbClr val="5E8C74"/>
      </a:folHlink>
    </a:clrScheme>
    <a:fontScheme name="Polyploid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WPS Presentation</Application>
  <PresentationFormat>On-screen Show (16:9)</PresentationFormat>
  <Paragraphs>75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Cambria</vt:lpstr>
      <vt:lpstr>Calibri</vt:lpstr>
      <vt:lpstr>Microsoft YaHei</vt:lpstr>
      <vt:lpstr>Arial Unicode MS</vt:lpstr>
      <vt:lpstr>Polyploidia</vt:lpstr>
      <vt:lpstr>Polyploidia</vt:lpstr>
      <vt:lpstr>Polyploidia</vt:lpstr>
      <vt:lpstr>Polyploidia u rastlín</vt:lpstr>
      <vt:lpstr>PowerPoint 演示文稿</vt:lpstr>
      <vt:lpstr>Význam polyploidie</vt:lpstr>
      <vt:lpstr>Ďakujem za pozornosť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Polyploidia</dc:title>
  <dc:creator>Walter Scharbert</dc:creator>
  <dc:subject>PptxGenJS Presentation</dc:subject>
  <cp:lastModifiedBy>Walter Scharbert</cp:lastModifiedBy>
  <cp:revision>2</cp:revision>
  <dcterms:created xsi:type="dcterms:W3CDTF">2026-10-25T13:02:00Z</dcterms:created>
  <dcterms:modified xsi:type="dcterms:W3CDTF">2026-10-25T14:26:34Z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373CAC0975574E529F8652E86D9D3D73_12</vt:lpwstr>
  </property>
</Properties>
</file>